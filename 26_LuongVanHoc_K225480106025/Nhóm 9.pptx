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Barlow Condensed Heavy" charset="1" panose="00000A06000000000000"/>
      <p:regular r:id="rId29"/>
    </p:embeddedFont>
    <p:embeddedFont>
      <p:font typeface="Akzidenz-Grotesk Heavy" charset="1" panose="02000503050000020004"/>
      <p:regular r:id="rId30"/>
    </p:embeddedFont>
    <p:embeddedFont>
      <p:font typeface="Aileron Bold"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 Id="rId9"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6521" y="3307946"/>
            <a:ext cx="2594369" cy="4588246"/>
            <a:chOff x="0" y="0"/>
            <a:chExt cx="683291" cy="1208427"/>
          </a:xfrm>
        </p:grpSpPr>
        <p:sp>
          <p:nvSpPr>
            <p:cNvPr name="Freeform 3" id="3"/>
            <p:cNvSpPr/>
            <p:nvPr/>
          </p:nvSpPr>
          <p:spPr>
            <a:xfrm flipH="false" flipV="false" rot="0">
              <a:off x="0" y="0"/>
              <a:ext cx="683291" cy="1208427"/>
            </a:xfrm>
            <a:custGeom>
              <a:avLst/>
              <a:gdLst/>
              <a:ahLst/>
              <a:cxnLst/>
              <a:rect r="r" b="b" t="t" l="l"/>
              <a:pathLst>
                <a:path h="1208427" w="683291">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name="TextBox 4" id="4"/>
            <p:cNvSpPr txBox="true"/>
            <p:nvPr/>
          </p:nvSpPr>
          <p:spPr>
            <a:xfrm>
              <a:off x="0" y="-47625"/>
              <a:ext cx="683291" cy="1256052"/>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843805" y="824861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412807" y="8799767"/>
            <a:ext cx="1483489" cy="458533"/>
          </a:xfrm>
          <a:custGeom>
            <a:avLst/>
            <a:gdLst/>
            <a:ahLst/>
            <a:cxnLst/>
            <a:rect r="r" b="b" t="t" l="l"/>
            <a:pathLst>
              <a:path h="458533" w="1483489">
                <a:moveTo>
                  <a:pt x="0" y="0"/>
                </a:moveTo>
                <a:lnTo>
                  <a:pt x="1483489" y="0"/>
                </a:lnTo>
                <a:lnTo>
                  <a:pt x="1483489" y="458533"/>
                </a:lnTo>
                <a:lnTo>
                  <a:pt x="0" y="4585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700946" y="4102665"/>
            <a:ext cx="7587054" cy="3793527"/>
          </a:xfrm>
          <a:custGeom>
            <a:avLst/>
            <a:gdLst/>
            <a:ahLst/>
            <a:cxnLst/>
            <a:rect r="r" b="b" t="t" l="l"/>
            <a:pathLst>
              <a:path h="3793527" w="7587054">
                <a:moveTo>
                  <a:pt x="0" y="0"/>
                </a:moveTo>
                <a:lnTo>
                  <a:pt x="7587054" y="0"/>
                </a:lnTo>
                <a:lnTo>
                  <a:pt x="7587054" y="3793527"/>
                </a:lnTo>
                <a:lnTo>
                  <a:pt x="0" y="3793527"/>
                </a:lnTo>
                <a:lnTo>
                  <a:pt x="0" y="0"/>
                </a:lnTo>
                <a:close/>
              </a:path>
            </a:pathLst>
          </a:custGeom>
          <a:blipFill>
            <a:blip r:embed="rId6"/>
            <a:stretch>
              <a:fillRect l="0" t="0" r="0" b="0"/>
            </a:stretch>
          </a:blipFill>
        </p:spPr>
      </p:sp>
      <p:sp>
        <p:nvSpPr>
          <p:cNvPr name="TextBox 9" id="9"/>
          <p:cNvSpPr txBox="true"/>
          <p:nvPr/>
        </p:nvSpPr>
        <p:spPr>
          <a:xfrm rot="0">
            <a:off x="4276688" y="1387640"/>
            <a:ext cx="9734623" cy="1663551"/>
          </a:xfrm>
          <a:prstGeom prst="rect">
            <a:avLst/>
          </a:prstGeom>
        </p:spPr>
        <p:txBody>
          <a:bodyPr anchor="t" rtlCol="false" tIns="0" lIns="0" bIns="0" rIns="0">
            <a:spAutoFit/>
          </a:bodyPr>
          <a:lstStyle/>
          <a:p>
            <a:pPr algn="l">
              <a:lnSpc>
                <a:spcPts val="12564"/>
              </a:lnSpc>
            </a:pPr>
            <a:r>
              <a:rPr lang="en-US" sz="12198" b="true">
                <a:solidFill>
                  <a:srgbClr val="0E2F5F"/>
                </a:solidFill>
                <a:latin typeface="Barlow Condensed Heavy"/>
                <a:ea typeface="Barlow Condensed Heavy"/>
                <a:cs typeface="Barlow Condensed Heavy"/>
                <a:sym typeface="Barlow Condensed Heavy"/>
              </a:rPr>
              <a:t>THUYẾT TRÌNH</a:t>
            </a:r>
          </a:p>
        </p:txBody>
      </p:sp>
      <p:sp>
        <p:nvSpPr>
          <p:cNvPr name="TextBox 10" id="10"/>
          <p:cNvSpPr txBox="true"/>
          <p:nvPr/>
        </p:nvSpPr>
        <p:spPr>
          <a:xfrm rot="0">
            <a:off x="2586005" y="3736340"/>
            <a:ext cx="7315200" cy="1407160"/>
          </a:xfrm>
          <a:prstGeom prst="rect">
            <a:avLst/>
          </a:prstGeom>
        </p:spPr>
        <p:txBody>
          <a:bodyPr anchor="t" rtlCol="false" tIns="0" lIns="0" bIns="0" rIns="0">
            <a:spAutoFit/>
          </a:bodyPr>
          <a:lstStyle/>
          <a:p>
            <a:pPr algn="l">
              <a:lnSpc>
                <a:spcPts val="5240"/>
              </a:lnSpc>
            </a:pPr>
            <a:r>
              <a:rPr lang="en-US" sz="4000" b="true">
                <a:solidFill>
                  <a:srgbClr val="021828"/>
                </a:solidFill>
                <a:latin typeface="Akzidenz-Grotesk Heavy"/>
                <a:ea typeface="Akzidenz-Grotesk Heavy"/>
                <a:cs typeface="Akzidenz-Grotesk Heavy"/>
                <a:sym typeface="Akzidenz-Grotesk Heavy"/>
              </a:rPr>
              <a:t>Xây dựng hệ thống đặt tour du lịch online </a:t>
            </a:r>
          </a:p>
        </p:txBody>
      </p:sp>
      <p:sp>
        <p:nvSpPr>
          <p:cNvPr name="TextBox 11" id="11"/>
          <p:cNvSpPr txBox="true"/>
          <p:nvPr/>
        </p:nvSpPr>
        <p:spPr>
          <a:xfrm rot="0">
            <a:off x="2412807" y="6223237"/>
            <a:ext cx="4660414" cy="1449167"/>
          </a:xfrm>
          <a:prstGeom prst="rect">
            <a:avLst/>
          </a:prstGeom>
        </p:spPr>
        <p:txBody>
          <a:bodyPr anchor="t" rtlCol="false" tIns="0" lIns="0" bIns="0" rIns="0">
            <a:spAutoFit/>
          </a:bodyPr>
          <a:lstStyle/>
          <a:p>
            <a:pPr algn="r">
              <a:lnSpc>
                <a:spcPts val="3899"/>
              </a:lnSpc>
            </a:pPr>
            <a:r>
              <a:rPr lang="en-US" b="true" sz="2785">
                <a:solidFill>
                  <a:srgbClr val="000000"/>
                </a:solidFill>
                <a:latin typeface="Aileron Bold"/>
                <a:ea typeface="Aileron Bold"/>
                <a:cs typeface="Aileron Bold"/>
                <a:sym typeface="Aileron Bold"/>
              </a:rPr>
              <a:t>Thành viên: Lương Văn Học</a:t>
            </a:r>
          </a:p>
          <a:p>
            <a:pPr algn="r">
              <a:lnSpc>
                <a:spcPts val="3899"/>
              </a:lnSpc>
            </a:pPr>
            <a:r>
              <a:rPr lang="en-US" b="true" sz="2785">
                <a:solidFill>
                  <a:srgbClr val="000000"/>
                </a:solidFill>
                <a:latin typeface="Aileron Bold"/>
                <a:ea typeface="Aileron Bold"/>
                <a:cs typeface="Aileron Bold"/>
                <a:sym typeface="Aileron Bold"/>
              </a:rPr>
              <a:t>Hoàng Đức Hội</a:t>
            </a:r>
          </a:p>
          <a:p>
            <a:pPr algn="r">
              <a:lnSpc>
                <a:spcPts val="3899"/>
              </a:lnSpc>
            </a:pPr>
            <a:r>
              <a:rPr lang="en-US" b="true" sz="2785">
                <a:solidFill>
                  <a:srgbClr val="000000"/>
                </a:solidFill>
                <a:latin typeface="Aileron Bold"/>
                <a:ea typeface="Aileron Bold"/>
                <a:cs typeface="Aileron Bold"/>
                <a:sym typeface="Aileron Bold"/>
              </a:rPr>
              <a:t>Nguyễn Văn Hoan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34028" y="6733028"/>
            <a:ext cx="5050544" cy="5050544"/>
          </a:xfrm>
          <a:custGeom>
            <a:avLst/>
            <a:gdLst/>
            <a:ahLst/>
            <a:cxnLst/>
            <a:rect r="r" b="b" t="t" l="l"/>
            <a:pathLst>
              <a:path h="5050544" w="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9510" y="580162"/>
            <a:ext cx="1858734" cy="18587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2148858" y="1060991"/>
            <a:ext cx="600038" cy="897076"/>
          </a:xfrm>
          <a:custGeom>
            <a:avLst/>
            <a:gdLst/>
            <a:ahLst/>
            <a:cxnLst/>
            <a:rect r="r" b="b" t="t" l="l"/>
            <a:pathLst>
              <a:path h="897076" w="600038">
                <a:moveTo>
                  <a:pt x="0" y="0"/>
                </a:moveTo>
                <a:lnTo>
                  <a:pt x="600039" y="0"/>
                </a:lnTo>
                <a:lnTo>
                  <a:pt x="600039" y="897076"/>
                </a:lnTo>
                <a:lnTo>
                  <a:pt x="0" y="8970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991288" y="3114592"/>
            <a:ext cx="10257204" cy="1145360"/>
          </a:xfrm>
          <a:prstGeom prst="rect">
            <a:avLst/>
          </a:prstGeom>
        </p:spPr>
        <p:txBody>
          <a:bodyPr anchor="t" rtlCol="false" tIns="0" lIns="0" bIns="0" rIns="0">
            <a:spAutoFit/>
          </a:bodyPr>
          <a:lstStyle/>
          <a:p>
            <a:pPr algn="just">
              <a:lnSpc>
                <a:spcPts val="4594"/>
              </a:lnSpc>
            </a:pPr>
            <a:r>
              <a:rPr lang="en-US" sz="3282" b="true">
                <a:solidFill>
                  <a:srgbClr val="021828"/>
                </a:solidFill>
                <a:latin typeface="Aileron Bold"/>
                <a:ea typeface="Aileron Bold"/>
                <a:cs typeface="Aileron Bold"/>
                <a:sym typeface="Aileron Bold"/>
              </a:rPr>
              <a:t>CHƯƠNG I. KHẢO SÁT HIỆN TRẠNG CỦA HỆ THỐNG</a:t>
            </a:r>
          </a:p>
          <a:p>
            <a:pPr algn="just">
              <a:lnSpc>
                <a:spcPts val="4594"/>
              </a:lnSpc>
            </a:pPr>
          </a:p>
        </p:txBody>
      </p:sp>
      <p:sp>
        <p:nvSpPr>
          <p:cNvPr name="TextBox 8" id="8"/>
          <p:cNvSpPr txBox="true"/>
          <p:nvPr/>
        </p:nvSpPr>
        <p:spPr>
          <a:xfrm rot="0">
            <a:off x="4239017" y="857250"/>
            <a:ext cx="4904983" cy="1080135"/>
          </a:xfrm>
          <a:prstGeom prst="rect">
            <a:avLst/>
          </a:prstGeom>
        </p:spPr>
        <p:txBody>
          <a:bodyPr anchor="t" rtlCol="false" tIns="0" lIns="0" bIns="0" rIns="0">
            <a:spAutoFit/>
          </a:bodyPr>
          <a:lstStyle/>
          <a:p>
            <a:pPr algn="l">
              <a:lnSpc>
                <a:spcPts val="7619"/>
              </a:lnSpc>
            </a:pPr>
            <a:r>
              <a:rPr lang="en-US" sz="5999" b="true">
                <a:solidFill>
                  <a:srgbClr val="0E2F5F"/>
                </a:solidFill>
                <a:latin typeface="Akzidenz-Grotesk Heavy"/>
                <a:ea typeface="Akzidenz-Grotesk Heavy"/>
                <a:cs typeface="Akzidenz-Grotesk Heavy"/>
                <a:sym typeface="Akzidenz-Grotesk Heavy"/>
              </a:rPr>
              <a:t>MỤC LỤC</a:t>
            </a:r>
          </a:p>
        </p:txBody>
      </p:sp>
      <p:sp>
        <p:nvSpPr>
          <p:cNvPr name="Freeform 9" id="9"/>
          <p:cNvSpPr/>
          <p:nvPr/>
        </p:nvSpPr>
        <p:spPr>
          <a:xfrm flipH="false" flipV="false" rot="0">
            <a:off x="16264511" y="5348601"/>
            <a:ext cx="1025128" cy="1025128"/>
          </a:xfrm>
          <a:custGeom>
            <a:avLst/>
            <a:gdLst/>
            <a:ahLst/>
            <a:cxnLst/>
            <a:rect r="r" b="b" t="t" l="l"/>
            <a:pathLst>
              <a:path h="1025128" w="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991288" y="4537483"/>
            <a:ext cx="10257204" cy="1145360"/>
          </a:xfrm>
          <a:prstGeom prst="rect">
            <a:avLst/>
          </a:prstGeom>
        </p:spPr>
        <p:txBody>
          <a:bodyPr anchor="t" rtlCol="false" tIns="0" lIns="0" bIns="0" rIns="0">
            <a:spAutoFit/>
          </a:bodyPr>
          <a:lstStyle/>
          <a:p>
            <a:pPr algn="just">
              <a:lnSpc>
                <a:spcPts val="4594"/>
              </a:lnSpc>
            </a:pPr>
            <a:r>
              <a:rPr lang="en-US" sz="3282" b="true">
                <a:solidFill>
                  <a:srgbClr val="021828"/>
                </a:solidFill>
                <a:latin typeface="Aileron Bold"/>
                <a:ea typeface="Aileron Bold"/>
                <a:cs typeface="Aileron Bold"/>
                <a:sym typeface="Aileron Bold"/>
              </a:rPr>
              <a:t>CHƯƠNG II. PHÂN TÍCH HỆ THỐNG</a:t>
            </a:r>
          </a:p>
          <a:p>
            <a:pPr algn="just">
              <a:lnSpc>
                <a:spcPts val="4594"/>
              </a:lnSpc>
            </a:pPr>
          </a:p>
        </p:txBody>
      </p:sp>
      <p:sp>
        <p:nvSpPr>
          <p:cNvPr name="TextBox 11" id="11"/>
          <p:cNvSpPr txBox="true"/>
          <p:nvPr/>
        </p:nvSpPr>
        <p:spPr>
          <a:xfrm rot="0">
            <a:off x="1991288" y="5959067"/>
            <a:ext cx="10257204" cy="564335"/>
          </a:xfrm>
          <a:prstGeom prst="rect">
            <a:avLst/>
          </a:prstGeom>
        </p:spPr>
        <p:txBody>
          <a:bodyPr anchor="t" rtlCol="false" tIns="0" lIns="0" bIns="0" rIns="0">
            <a:spAutoFit/>
          </a:bodyPr>
          <a:lstStyle/>
          <a:p>
            <a:pPr algn="just">
              <a:lnSpc>
                <a:spcPts val="4594"/>
              </a:lnSpc>
            </a:pPr>
            <a:r>
              <a:rPr lang="en-US" sz="3282" b="true">
                <a:solidFill>
                  <a:srgbClr val="021828"/>
                </a:solidFill>
                <a:latin typeface="Aileron Bold"/>
                <a:ea typeface="Aileron Bold"/>
                <a:cs typeface="Aileron Bold"/>
                <a:sym typeface="Aileron Bold"/>
              </a:rPr>
              <a:t> CHƯƠNG III. THIẾT KẾ HỆ THỐNG</a:t>
            </a:r>
          </a:p>
        </p:txBody>
      </p:sp>
      <p:sp>
        <p:nvSpPr>
          <p:cNvPr name="TextBox 12" id="12"/>
          <p:cNvSpPr txBox="true"/>
          <p:nvPr/>
        </p:nvSpPr>
        <p:spPr>
          <a:xfrm rot="0">
            <a:off x="1991288" y="7327240"/>
            <a:ext cx="10257204" cy="564335"/>
          </a:xfrm>
          <a:prstGeom prst="rect">
            <a:avLst/>
          </a:prstGeom>
        </p:spPr>
        <p:txBody>
          <a:bodyPr anchor="t" rtlCol="false" tIns="0" lIns="0" bIns="0" rIns="0">
            <a:spAutoFit/>
          </a:bodyPr>
          <a:lstStyle/>
          <a:p>
            <a:pPr algn="just">
              <a:lnSpc>
                <a:spcPts val="4594"/>
              </a:lnSpc>
            </a:pPr>
            <a:r>
              <a:rPr lang="en-US" sz="3282" b="true">
                <a:solidFill>
                  <a:srgbClr val="021828"/>
                </a:solidFill>
                <a:latin typeface="Aileron Bold"/>
                <a:ea typeface="Aileron Bold"/>
                <a:cs typeface="Aileron Bold"/>
                <a:sym typeface="Aileron Bold"/>
              </a:rPr>
              <a:t>CHƯƠNG IV. CÀI ĐẶT VÀ KIỂM THỬ PHẦN MỀM</a:t>
            </a:r>
          </a:p>
        </p:txBody>
      </p:sp>
      <p:sp>
        <p:nvSpPr>
          <p:cNvPr name="TextBox 13" id="13"/>
          <p:cNvSpPr txBox="true"/>
          <p:nvPr/>
        </p:nvSpPr>
        <p:spPr>
          <a:xfrm rot="0">
            <a:off x="1991288" y="8695413"/>
            <a:ext cx="10257204" cy="564335"/>
          </a:xfrm>
          <a:prstGeom prst="rect">
            <a:avLst/>
          </a:prstGeom>
        </p:spPr>
        <p:txBody>
          <a:bodyPr anchor="t" rtlCol="false" tIns="0" lIns="0" bIns="0" rIns="0">
            <a:spAutoFit/>
          </a:bodyPr>
          <a:lstStyle/>
          <a:p>
            <a:pPr algn="just">
              <a:lnSpc>
                <a:spcPts val="4594"/>
              </a:lnSpc>
            </a:pPr>
            <a:r>
              <a:rPr lang="en-US" sz="3282" b="true">
                <a:solidFill>
                  <a:srgbClr val="021828"/>
                </a:solidFill>
                <a:latin typeface="Aileron Bold"/>
                <a:ea typeface="Aileron Bold"/>
                <a:cs typeface="Aileron Bold"/>
                <a:sym typeface="Aileron Bold"/>
              </a:rPr>
              <a:t>CHƯƠNG V. NHẬN XÉT VÀ ĐÁNH GIÁ HỆ THỐNG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4196" y="3122675"/>
            <a:ext cx="4829892" cy="5894830"/>
            <a:chOff x="0" y="0"/>
            <a:chExt cx="1272070" cy="1552548"/>
          </a:xfrm>
        </p:grpSpPr>
        <p:sp>
          <p:nvSpPr>
            <p:cNvPr name="Freeform 3" id="3"/>
            <p:cNvSpPr/>
            <p:nvPr/>
          </p:nvSpPr>
          <p:spPr>
            <a:xfrm flipH="false" flipV="false" rot="0">
              <a:off x="0" y="0"/>
              <a:ext cx="1272070" cy="1552548"/>
            </a:xfrm>
            <a:custGeom>
              <a:avLst/>
              <a:gdLst/>
              <a:ahLst/>
              <a:cxnLst/>
              <a:rect r="r" b="b" t="t" l="l"/>
              <a:pathLst>
                <a:path h="1552548" w="1272070">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p:spPr>
        </p:sp>
        <p:sp>
          <p:nvSpPr>
            <p:cNvPr name="TextBox 4" id="4"/>
            <p:cNvSpPr txBox="true"/>
            <p:nvPr/>
          </p:nvSpPr>
          <p:spPr>
            <a:xfrm>
              <a:off x="0" y="-47625"/>
              <a:ext cx="1272070" cy="1600173"/>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848620" y="375793"/>
            <a:ext cx="12613005" cy="652907"/>
          </a:xfrm>
          <a:prstGeom prst="rect">
            <a:avLst/>
          </a:prstGeom>
        </p:spPr>
        <p:txBody>
          <a:bodyPr anchor="t" rtlCol="false" tIns="0" lIns="0" bIns="0" rIns="0">
            <a:spAutoFit/>
          </a:bodyPr>
          <a:lstStyle/>
          <a:p>
            <a:pPr algn="l">
              <a:lnSpc>
                <a:spcPts val="4699"/>
              </a:lnSpc>
            </a:pPr>
            <a:r>
              <a:rPr lang="en-US" sz="3700" b="true">
                <a:solidFill>
                  <a:srgbClr val="0E2F5F"/>
                </a:solidFill>
                <a:latin typeface="Akzidenz-Grotesk Heavy"/>
                <a:ea typeface="Akzidenz-Grotesk Heavy"/>
                <a:cs typeface="Akzidenz-Grotesk Heavy"/>
                <a:sym typeface="Akzidenz-Grotesk Heavy"/>
              </a:rPr>
              <a:t>CHƯƠNG I. KHẢO SÁT HIỆN TRẠNG CỦA HỆ THỐNG</a:t>
            </a:r>
          </a:p>
        </p:txBody>
      </p:sp>
      <p:sp>
        <p:nvSpPr>
          <p:cNvPr name="TextBox 6" id="6"/>
          <p:cNvSpPr txBox="true"/>
          <p:nvPr/>
        </p:nvSpPr>
        <p:spPr>
          <a:xfrm rot="0">
            <a:off x="1028700" y="2484315"/>
            <a:ext cx="11871701" cy="6933822"/>
          </a:xfrm>
          <a:prstGeom prst="rect">
            <a:avLst/>
          </a:prstGeom>
        </p:spPr>
        <p:txBody>
          <a:bodyPr anchor="t" rtlCol="false" tIns="0" lIns="0" bIns="0" rIns="0">
            <a:spAutoFit/>
          </a:bodyPr>
          <a:lstStyle/>
          <a:p>
            <a:pPr algn="l" marL="1068565" indent="-356188" lvl="2">
              <a:lnSpc>
                <a:spcPts val="3984"/>
              </a:lnSpc>
              <a:spcBef>
                <a:spcPct val="0"/>
              </a:spcBef>
              <a:buFont typeface="Arial"/>
              <a:buChar char="⚬"/>
            </a:pPr>
            <a:r>
              <a:rPr lang="en-US" b="true" sz="2474" strike="noStrike" u="none">
                <a:solidFill>
                  <a:srgbClr val="0E2F5F"/>
                </a:solidFill>
                <a:latin typeface="Aileron Bold"/>
                <a:ea typeface="Aileron Bold"/>
                <a:cs typeface="Aileron Bold"/>
                <a:sym typeface="Aileron Bold"/>
              </a:rPr>
              <a:t>Doanh nghiệp du lịch vẫn quản lý tour, khách hàng, đơn đặt bằng sổ sách hoặc Excel.</a:t>
            </a:r>
          </a:p>
          <a:p>
            <a:pPr algn="l" marL="1068565" indent="-356188" lvl="2">
              <a:lnSpc>
                <a:spcPts val="3984"/>
              </a:lnSpc>
              <a:spcBef>
                <a:spcPct val="0"/>
              </a:spcBef>
              <a:buFont typeface="Arial"/>
              <a:buChar char="⚬"/>
            </a:pPr>
            <a:r>
              <a:rPr lang="en-US" b="true" sz="2474" strike="noStrike" u="none">
                <a:solidFill>
                  <a:srgbClr val="0E2F5F"/>
                </a:solidFill>
                <a:latin typeface="Aileron Bold"/>
                <a:ea typeface="Aileron Bold"/>
                <a:cs typeface="Aileron Bold"/>
                <a:sym typeface="Aileron Bold"/>
              </a:rPr>
              <a:t>Thông tin tour không cập nhật đồng bộ: giá, lịch trình, số chỗ còn lại không rõ ràng.</a:t>
            </a:r>
          </a:p>
          <a:p>
            <a:pPr algn="l" marL="1068565" indent="-356188" lvl="2">
              <a:lnSpc>
                <a:spcPts val="3984"/>
              </a:lnSpc>
              <a:spcBef>
                <a:spcPct val="0"/>
              </a:spcBef>
              <a:buFont typeface="Arial"/>
              <a:buChar char="⚬"/>
            </a:pPr>
            <a:r>
              <a:rPr lang="en-US" b="true" sz="2474" strike="noStrike" u="none">
                <a:solidFill>
                  <a:srgbClr val="0E2F5F"/>
                </a:solidFill>
                <a:latin typeface="Aileron Bold"/>
                <a:ea typeface="Aileron Bold"/>
                <a:cs typeface="Aileron Bold"/>
                <a:sym typeface="Aileron Bold"/>
              </a:rPr>
              <a:t>Quy trình đặt tour phụ thuộc liên hệ trực tiếp/điện thoại, mất thời gian, dễ sai sót.</a:t>
            </a:r>
          </a:p>
          <a:p>
            <a:pPr algn="l" marL="1068565" indent="-356188" lvl="2">
              <a:lnSpc>
                <a:spcPts val="3984"/>
              </a:lnSpc>
              <a:spcBef>
                <a:spcPct val="0"/>
              </a:spcBef>
              <a:buFont typeface="Arial"/>
              <a:buChar char="⚬"/>
            </a:pPr>
            <a:r>
              <a:rPr lang="en-US" b="true" sz="2474" strike="noStrike" u="none">
                <a:solidFill>
                  <a:srgbClr val="0E2F5F"/>
                </a:solidFill>
                <a:latin typeface="Aileron Bold"/>
                <a:ea typeface="Aileron Bold"/>
                <a:cs typeface="Aileron Bold"/>
                <a:sym typeface="Aileron Bold"/>
              </a:rPr>
              <a:t>Thanh toán thủ công, không hỗ trợ theo dõi trạng thái tự động.</a:t>
            </a:r>
          </a:p>
          <a:p>
            <a:pPr algn="l" marL="1068565" indent="-356188" lvl="2">
              <a:lnSpc>
                <a:spcPts val="3984"/>
              </a:lnSpc>
              <a:spcBef>
                <a:spcPct val="0"/>
              </a:spcBef>
              <a:buFont typeface="Arial"/>
              <a:buChar char="⚬"/>
            </a:pPr>
            <a:r>
              <a:rPr lang="en-US" b="true" sz="2474" strike="noStrike" u="none">
                <a:solidFill>
                  <a:srgbClr val="0E2F5F"/>
                </a:solidFill>
                <a:latin typeface="Aileron Bold"/>
                <a:ea typeface="Aileron Bold"/>
                <a:cs typeface="Aileron Bold"/>
                <a:sym typeface="Aileron Bold"/>
              </a:rPr>
              <a:t>Thiếu phản hồi khách hàng, không có hệ thống chăm sóc và thông báo tự động.</a:t>
            </a:r>
          </a:p>
          <a:p>
            <a:pPr algn="l" marL="1068565" indent="-356188" lvl="2">
              <a:lnSpc>
                <a:spcPts val="3984"/>
              </a:lnSpc>
              <a:spcBef>
                <a:spcPct val="0"/>
              </a:spcBef>
              <a:buFont typeface="Arial"/>
              <a:buChar char="⚬"/>
            </a:pPr>
            <a:r>
              <a:rPr lang="en-US" b="true" sz="2474" strike="noStrike" u="none">
                <a:solidFill>
                  <a:srgbClr val="0E2F5F"/>
                </a:solidFill>
                <a:latin typeface="Aileron Bold"/>
                <a:ea typeface="Aileron Bold"/>
                <a:cs typeface="Aileron Bold"/>
                <a:sym typeface="Aileron Bold"/>
              </a:rPr>
              <a:t>Không có công cụ thống kê – phân tích dữ liệu để hỗ trợ quản lý, dự báo nhu cầu.</a:t>
            </a:r>
          </a:p>
          <a:p>
            <a:pPr algn="l" marL="1068565" indent="-356188" lvl="2">
              <a:lnSpc>
                <a:spcPts val="3984"/>
              </a:lnSpc>
              <a:spcBef>
                <a:spcPct val="0"/>
              </a:spcBef>
              <a:buFont typeface="Arial"/>
              <a:buChar char="⚬"/>
            </a:pPr>
            <a:r>
              <a:rPr lang="en-US" b="true" sz="2474" strike="noStrike" u="none">
                <a:solidFill>
                  <a:srgbClr val="0E2F5F"/>
                </a:solidFill>
                <a:latin typeface="Aileron Bold"/>
                <a:ea typeface="Aileron Bold"/>
                <a:cs typeface="Aileron Bold"/>
                <a:sym typeface="Aileron Bold"/>
              </a:rPr>
              <a:t>Quy trình hiện tại rời rạc, thiếu minh bạch, khó quản lý, không phù hợp xu hướng số hóa.</a:t>
            </a:r>
          </a:p>
          <a:p>
            <a:pPr algn="l" marL="1068565" indent="-356188" lvl="2">
              <a:lnSpc>
                <a:spcPts val="3984"/>
              </a:lnSpc>
              <a:spcBef>
                <a:spcPct val="0"/>
              </a:spcBef>
              <a:buFont typeface="Arial"/>
              <a:buChar char="⚬"/>
            </a:pPr>
          </a:p>
        </p:txBody>
      </p:sp>
      <p:sp>
        <p:nvSpPr>
          <p:cNvPr name="Freeform 7" id="7"/>
          <p:cNvSpPr/>
          <p:nvPr/>
        </p:nvSpPr>
        <p:spPr>
          <a:xfrm flipH="false" flipV="false" rot="0">
            <a:off x="14848550" y="1944578"/>
            <a:ext cx="1226460" cy="379088"/>
          </a:xfrm>
          <a:custGeom>
            <a:avLst/>
            <a:gdLst/>
            <a:ahLst/>
            <a:cxnLst/>
            <a:rect r="r" b="b" t="t" l="l"/>
            <a:pathLst>
              <a:path h="379088" w="1226460">
                <a:moveTo>
                  <a:pt x="0" y="0"/>
                </a:moveTo>
                <a:lnTo>
                  <a:pt x="1226460" y="0"/>
                </a:lnTo>
                <a:lnTo>
                  <a:pt x="1226460" y="379087"/>
                </a:lnTo>
                <a:lnTo>
                  <a:pt x="0" y="3790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298985" y="1028700"/>
            <a:ext cx="960315" cy="960315"/>
          </a:xfrm>
          <a:custGeom>
            <a:avLst/>
            <a:gdLst/>
            <a:ahLst/>
            <a:cxnLst/>
            <a:rect r="r" b="b" t="t" l="l"/>
            <a:pathLst>
              <a:path h="960315" w="960315">
                <a:moveTo>
                  <a:pt x="0" y="0"/>
                </a:moveTo>
                <a:lnTo>
                  <a:pt x="960315" y="0"/>
                </a:lnTo>
                <a:lnTo>
                  <a:pt x="960315" y="960315"/>
                </a:lnTo>
                <a:lnTo>
                  <a:pt x="0" y="9603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848620" y="1532272"/>
            <a:ext cx="3681770" cy="456744"/>
          </a:xfrm>
          <a:prstGeom prst="rect">
            <a:avLst/>
          </a:prstGeom>
        </p:spPr>
        <p:txBody>
          <a:bodyPr anchor="t" rtlCol="false" tIns="0" lIns="0" bIns="0" rIns="0">
            <a:spAutoFit/>
          </a:bodyPr>
          <a:lstStyle/>
          <a:p>
            <a:pPr algn="l">
              <a:lnSpc>
                <a:spcPts val="3842"/>
              </a:lnSpc>
              <a:spcBef>
                <a:spcPct val="0"/>
              </a:spcBef>
            </a:pPr>
            <a:r>
              <a:rPr lang="en-US" b="true" sz="2386" strike="noStrike" u="none">
                <a:solidFill>
                  <a:srgbClr val="0E2F5F"/>
                </a:solidFill>
                <a:latin typeface="Aileron Bold"/>
                <a:ea typeface="Aileron Bold"/>
                <a:cs typeface="Aileron Bold"/>
                <a:sym typeface="Aileron Bold"/>
              </a:rPr>
              <a:t>THỰC TRẠNG VÀ VẤN ĐỀ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4196" y="3122675"/>
            <a:ext cx="4829892" cy="5894830"/>
            <a:chOff x="0" y="0"/>
            <a:chExt cx="1272070" cy="1552548"/>
          </a:xfrm>
        </p:grpSpPr>
        <p:sp>
          <p:nvSpPr>
            <p:cNvPr name="Freeform 3" id="3"/>
            <p:cNvSpPr/>
            <p:nvPr/>
          </p:nvSpPr>
          <p:spPr>
            <a:xfrm flipH="false" flipV="false" rot="0">
              <a:off x="0" y="0"/>
              <a:ext cx="1272070" cy="1552548"/>
            </a:xfrm>
            <a:custGeom>
              <a:avLst/>
              <a:gdLst/>
              <a:ahLst/>
              <a:cxnLst/>
              <a:rect r="r" b="b" t="t" l="l"/>
              <a:pathLst>
                <a:path h="1552548" w="1272070">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p:spPr>
        </p:sp>
        <p:sp>
          <p:nvSpPr>
            <p:cNvPr name="TextBox 4" id="4"/>
            <p:cNvSpPr txBox="true"/>
            <p:nvPr/>
          </p:nvSpPr>
          <p:spPr>
            <a:xfrm>
              <a:off x="0" y="-47625"/>
              <a:ext cx="1272070" cy="1600173"/>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871130" y="654622"/>
            <a:ext cx="12613005" cy="652907"/>
          </a:xfrm>
          <a:prstGeom prst="rect">
            <a:avLst/>
          </a:prstGeom>
        </p:spPr>
        <p:txBody>
          <a:bodyPr anchor="t" rtlCol="false" tIns="0" lIns="0" bIns="0" rIns="0">
            <a:spAutoFit/>
          </a:bodyPr>
          <a:lstStyle/>
          <a:p>
            <a:pPr algn="l">
              <a:lnSpc>
                <a:spcPts val="4699"/>
              </a:lnSpc>
            </a:pPr>
            <a:r>
              <a:rPr lang="en-US" sz="3700" b="true">
                <a:solidFill>
                  <a:srgbClr val="0E2F5F"/>
                </a:solidFill>
                <a:latin typeface="Akzidenz-Grotesk Heavy"/>
                <a:ea typeface="Akzidenz-Grotesk Heavy"/>
                <a:cs typeface="Akzidenz-Grotesk Heavy"/>
                <a:sym typeface="Akzidenz-Grotesk Heavy"/>
              </a:rPr>
              <a:t>CHƯƠNG I. KHẢO SÁT HIỆN TRẠNG CỦA HỆ THỐNG</a:t>
            </a:r>
          </a:p>
        </p:txBody>
      </p:sp>
      <p:sp>
        <p:nvSpPr>
          <p:cNvPr name="TextBox 6" id="6"/>
          <p:cNvSpPr txBox="true"/>
          <p:nvPr/>
        </p:nvSpPr>
        <p:spPr>
          <a:xfrm rot="0">
            <a:off x="1866179" y="2406559"/>
            <a:ext cx="11812768" cy="6512135"/>
          </a:xfrm>
          <a:prstGeom prst="rect">
            <a:avLst/>
          </a:prstGeom>
        </p:spPr>
        <p:txBody>
          <a:bodyPr anchor="t" rtlCol="false" tIns="0" lIns="0" bIns="0" rIns="0">
            <a:spAutoFit/>
          </a:bodyPr>
          <a:lstStyle/>
          <a:p>
            <a:pPr algn="l">
              <a:lnSpc>
                <a:spcPts val="3977"/>
              </a:lnSpc>
              <a:spcBef>
                <a:spcPct val="0"/>
              </a:spcBef>
            </a:pP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Xây dựng hệ thống đặt tour trực tuyến thay thế quy trình thủ công.</a:t>
            </a: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Quản lý tour tập trung, thông tin cập nhật thời gian thực (giá, lịch trình, số chỗ).</a:t>
            </a: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Hỗ trợ khách hàng tìm kiếm – xem chi tiết – đặt tour – thanh toán online.</a:t>
            </a: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Tự động hóa quản lý khách hàng, đơn đặt, trạng thái thanh toán và xuất hóa đơn.</a:t>
            </a: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Tích hợp mã giảm giá, ưu đãi, thông báo tự động cho khách hàng.</a:t>
            </a: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Cung cấp thống kê – báo cáo doanh thu, lượng khách, hiệu quả tour.</a:t>
            </a: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Đảm bảo bảo mật dữ liệu, phân quyền người dùng (admin, nhân viên, khách).</a:t>
            </a:r>
          </a:p>
          <a:p>
            <a:pPr algn="l" marL="1066680" indent="-355560" lvl="2">
              <a:lnSpc>
                <a:spcPts val="3977"/>
              </a:lnSpc>
              <a:spcBef>
                <a:spcPct val="0"/>
              </a:spcBef>
              <a:buFont typeface="Arial"/>
              <a:buChar char="⚬"/>
            </a:pPr>
            <a:r>
              <a:rPr lang="en-US" b="true" sz="2470" strike="noStrike" u="none">
                <a:solidFill>
                  <a:srgbClr val="0E2F5F"/>
                </a:solidFill>
                <a:latin typeface="Aileron Bold"/>
                <a:ea typeface="Aileron Bold"/>
                <a:cs typeface="Aileron Bold"/>
                <a:sym typeface="Aileron Bold"/>
              </a:rPr>
              <a:t>Giao diện dễ sử dụng, hoạt động tốt trên nhiều thiết bị, dễ mở rộng khi cần.</a:t>
            </a:r>
          </a:p>
        </p:txBody>
      </p:sp>
      <p:sp>
        <p:nvSpPr>
          <p:cNvPr name="Freeform 7" id="7"/>
          <p:cNvSpPr/>
          <p:nvPr/>
        </p:nvSpPr>
        <p:spPr>
          <a:xfrm flipH="false" flipV="false" rot="0">
            <a:off x="14848550" y="1944578"/>
            <a:ext cx="1226460" cy="379088"/>
          </a:xfrm>
          <a:custGeom>
            <a:avLst/>
            <a:gdLst/>
            <a:ahLst/>
            <a:cxnLst/>
            <a:rect r="r" b="b" t="t" l="l"/>
            <a:pathLst>
              <a:path h="379088" w="1226460">
                <a:moveTo>
                  <a:pt x="0" y="0"/>
                </a:moveTo>
                <a:lnTo>
                  <a:pt x="1226460" y="0"/>
                </a:lnTo>
                <a:lnTo>
                  <a:pt x="1226460" y="379087"/>
                </a:lnTo>
                <a:lnTo>
                  <a:pt x="0" y="3790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298985" y="1028700"/>
            <a:ext cx="960315" cy="960315"/>
          </a:xfrm>
          <a:custGeom>
            <a:avLst/>
            <a:gdLst/>
            <a:ahLst/>
            <a:cxnLst/>
            <a:rect r="r" b="b" t="t" l="l"/>
            <a:pathLst>
              <a:path h="960315" w="960315">
                <a:moveTo>
                  <a:pt x="0" y="0"/>
                </a:moveTo>
                <a:lnTo>
                  <a:pt x="960315" y="0"/>
                </a:lnTo>
                <a:lnTo>
                  <a:pt x="960315" y="960315"/>
                </a:lnTo>
                <a:lnTo>
                  <a:pt x="0" y="9603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028700" y="2031222"/>
            <a:ext cx="5808345" cy="480112"/>
          </a:xfrm>
          <a:prstGeom prst="rect">
            <a:avLst/>
          </a:prstGeom>
        </p:spPr>
        <p:txBody>
          <a:bodyPr anchor="t" rtlCol="false" tIns="0" lIns="0" bIns="0" rIns="0">
            <a:spAutoFit/>
          </a:bodyPr>
          <a:lstStyle/>
          <a:p>
            <a:pPr algn="l">
              <a:lnSpc>
                <a:spcPts val="4003"/>
              </a:lnSpc>
              <a:spcBef>
                <a:spcPct val="0"/>
              </a:spcBef>
            </a:pPr>
            <a:r>
              <a:rPr lang="en-US" b="true" sz="2486" strike="noStrike" u="none">
                <a:solidFill>
                  <a:srgbClr val="0E2F5F"/>
                </a:solidFill>
                <a:latin typeface="Aileron Bold"/>
                <a:ea typeface="Aileron Bold"/>
                <a:cs typeface="Aileron Bold"/>
                <a:sym typeface="Aileron Bold"/>
              </a:rPr>
              <a:t>GIẢI PHÁP VÀ YÊU CẦU HỆ THỐNG MỚI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016457" y="3531105"/>
            <a:ext cx="8271543" cy="4466633"/>
          </a:xfrm>
          <a:custGeom>
            <a:avLst/>
            <a:gdLst/>
            <a:ahLst/>
            <a:cxnLst/>
            <a:rect r="r" b="b" t="t" l="l"/>
            <a:pathLst>
              <a:path h="4466633" w="8271543">
                <a:moveTo>
                  <a:pt x="0" y="0"/>
                </a:moveTo>
                <a:lnTo>
                  <a:pt x="8271543" y="0"/>
                </a:lnTo>
                <a:lnTo>
                  <a:pt x="8271543" y="4466633"/>
                </a:lnTo>
                <a:lnTo>
                  <a:pt x="0" y="4466633"/>
                </a:lnTo>
                <a:lnTo>
                  <a:pt x="0" y="0"/>
                </a:lnTo>
                <a:close/>
              </a:path>
            </a:pathLst>
          </a:custGeom>
          <a:blipFill>
            <a:blip r:embed="rId4"/>
            <a:stretch>
              <a:fillRect l="0" t="0" r="0" b="0"/>
            </a:stretch>
          </a:blipFill>
        </p:spPr>
      </p:sp>
      <p:sp>
        <p:nvSpPr>
          <p:cNvPr name="TextBox 4" id="4"/>
          <p:cNvSpPr txBox="true"/>
          <p:nvPr/>
        </p:nvSpPr>
        <p:spPr>
          <a:xfrm rot="0">
            <a:off x="2366160" y="613532"/>
            <a:ext cx="12056189" cy="716915"/>
          </a:xfrm>
          <a:prstGeom prst="rect">
            <a:avLst/>
          </a:prstGeom>
        </p:spPr>
        <p:txBody>
          <a:bodyPr anchor="t" rtlCol="false" tIns="0" lIns="0" bIns="0" rIns="0">
            <a:spAutoFit/>
          </a:bodyPr>
          <a:lstStyle/>
          <a:p>
            <a:pPr algn="ctr" marL="0" indent="0" lvl="0">
              <a:lnSpc>
                <a:spcPts val="5080"/>
              </a:lnSpc>
              <a:spcBef>
                <a:spcPct val="0"/>
              </a:spcBef>
            </a:pPr>
            <a:r>
              <a:rPr lang="en-US" b="true" sz="4000">
                <a:solidFill>
                  <a:srgbClr val="0E2F5F"/>
                </a:solidFill>
                <a:latin typeface="Akzidenz-Grotesk Heavy"/>
                <a:ea typeface="Akzidenz-Grotesk Heavy"/>
                <a:cs typeface="Akzidenz-Grotesk Heavy"/>
                <a:sym typeface="Akzidenz-Grotesk Heavy"/>
              </a:rPr>
              <a:t>CHƯƠNG</a:t>
            </a:r>
            <a:r>
              <a:rPr lang="en-US" b="true" sz="40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5" id="5"/>
          <p:cNvSpPr txBox="true"/>
          <p:nvPr/>
        </p:nvSpPr>
        <p:spPr>
          <a:xfrm rot="0">
            <a:off x="540241" y="1799079"/>
            <a:ext cx="9144000" cy="8022683"/>
          </a:xfrm>
          <a:prstGeom prst="rect">
            <a:avLst/>
          </a:prstGeom>
        </p:spPr>
        <p:txBody>
          <a:bodyPr anchor="t" rtlCol="false" tIns="0" lIns="0" bIns="0" rIns="0">
            <a:spAutoFit/>
          </a:bodyPr>
          <a:lstStyle/>
          <a:p>
            <a:pPr algn="l" marL="450545" indent="-225273" lvl="1">
              <a:lnSpc>
                <a:spcPts val="3359"/>
              </a:lnSpc>
              <a:buFont typeface="Arial"/>
              <a:buChar char="•"/>
            </a:pPr>
            <a:r>
              <a:rPr lang="en-US" b="true" sz="2086">
                <a:solidFill>
                  <a:srgbClr val="0E2F5F"/>
                </a:solidFill>
                <a:latin typeface="Aileron Bold"/>
                <a:ea typeface="Aileron Bold"/>
                <a:cs typeface="Aileron Bold"/>
                <a:sym typeface="Aileron Bold"/>
              </a:rPr>
              <a:t>Đặt tour truyền thống còn bất tiện → cần hệ thống online để tìm kiếm – so sánh – đặt t</a:t>
            </a:r>
            <a:r>
              <a:rPr lang="en-US" b="true" sz="2086">
                <a:solidFill>
                  <a:srgbClr val="0E2F5F"/>
                </a:solidFill>
                <a:latin typeface="Aileron Bold"/>
                <a:ea typeface="Aileron Bold"/>
                <a:cs typeface="Aileron Bold"/>
                <a:sym typeface="Aileron Bold"/>
              </a:rPr>
              <a:t>our – thanh toán nhanh và minh bạch.</a:t>
            </a:r>
          </a:p>
          <a:p>
            <a:pPr algn="l" marL="450545" indent="-225273" lvl="1">
              <a:lnSpc>
                <a:spcPts val="3359"/>
              </a:lnSpc>
              <a:buFont typeface="Arial"/>
              <a:buChar char="•"/>
            </a:pPr>
            <a:r>
              <a:rPr lang="en-US" b="true" sz="2086">
                <a:solidFill>
                  <a:srgbClr val="0E2F5F"/>
                </a:solidFill>
                <a:latin typeface="Aileron Bold"/>
                <a:ea typeface="Aileron Bold"/>
                <a:cs typeface="Aileron Bold"/>
                <a:sym typeface="Aileron Bold"/>
              </a:rPr>
              <a:t>Hệ thống cho khách hàng:</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Đăng ký/đăng nhập, quản lý tài khoản.</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Tìm kiếm tour theo nhiều tiêu chí, xem chi tiết.</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Đặt tour, kiểm tra chỗ trống, thanh toán trực tuyến.</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Theo dõi trạng thái đơn, hủy/đổi tour, nhận thông báo email/SMS.</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Gửi đánh giá sau khi sử dụng tour.</a:t>
            </a:r>
          </a:p>
          <a:p>
            <a:pPr algn="l" marL="450545" indent="-225273" lvl="1">
              <a:lnSpc>
                <a:spcPts val="3359"/>
              </a:lnSpc>
              <a:buFont typeface="Arial"/>
              <a:buChar char="•"/>
            </a:pPr>
            <a:r>
              <a:rPr lang="en-US" b="true" sz="2086">
                <a:solidFill>
                  <a:srgbClr val="0E2F5F"/>
                </a:solidFill>
                <a:latin typeface="Aileron Bold"/>
                <a:ea typeface="Aileron Bold"/>
                <a:cs typeface="Aileron Bold"/>
                <a:sym typeface="Aileron Bold"/>
              </a:rPr>
              <a:t>Hệ thống cho quản trị viên:</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Quản lý tour, khách hàng, đơn đặt, thanh toán.</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Cập nhật tour, khuyến mãi; thống kê – báo cáo doanh thu.</a:t>
            </a:r>
          </a:p>
          <a:p>
            <a:pPr algn="l" marL="450545" indent="-225273" lvl="1">
              <a:lnSpc>
                <a:spcPts val="3359"/>
              </a:lnSpc>
              <a:buFont typeface="Arial"/>
              <a:buChar char="•"/>
            </a:pPr>
            <a:r>
              <a:rPr lang="en-US" b="true" sz="2086">
                <a:solidFill>
                  <a:srgbClr val="0E2F5F"/>
                </a:solidFill>
                <a:latin typeface="Aileron Bold"/>
                <a:ea typeface="Aileron Bold"/>
                <a:cs typeface="Aileron Bold"/>
                <a:sym typeface="Aileron Bold"/>
              </a:rPr>
              <a:t>Yêu cầu phi chức năng:</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Hoạt động ổn định 24/7, xử lý nhanh, chịu tải cao.</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Giao diện thân thiện, hỗ trợ mobile.</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Bảo mật cao: mã hóa dữ liệu, an toàn thanh toán.</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Lưu trữ lâu dài, truy xuất dữ liệu tốt.</a:t>
            </a:r>
          </a:p>
          <a:p>
            <a:pPr algn="l" marL="901091" indent="-300364" lvl="2">
              <a:lnSpc>
                <a:spcPts val="3359"/>
              </a:lnSpc>
              <a:buFont typeface="Arial"/>
              <a:buChar char="⚬"/>
            </a:pPr>
            <a:r>
              <a:rPr lang="en-US" b="true" sz="2086">
                <a:solidFill>
                  <a:srgbClr val="0E2F5F"/>
                </a:solidFill>
                <a:latin typeface="Aileron Bold"/>
                <a:ea typeface="Aileron Bold"/>
                <a:cs typeface="Aileron Bold"/>
                <a:sym typeface="Aileron Bold"/>
              </a:rPr>
              <a:t>Hệ thống dễ mở rộng, bảo trì, tích hợp với email/SMS/cổng thanh toán.</a:t>
            </a:r>
          </a:p>
          <a:p>
            <a:pPr algn="l">
              <a:lnSpc>
                <a:spcPts val="33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29595" y="2823173"/>
            <a:ext cx="12405613" cy="6592697"/>
          </a:xfrm>
          <a:custGeom>
            <a:avLst/>
            <a:gdLst/>
            <a:ahLst/>
            <a:cxnLst/>
            <a:rect r="r" b="b" t="t" l="l"/>
            <a:pathLst>
              <a:path h="6592697" w="12405613">
                <a:moveTo>
                  <a:pt x="0" y="0"/>
                </a:moveTo>
                <a:lnTo>
                  <a:pt x="12405613" y="0"/>
                </a:lnTo>
                <a:lnTo>
                  <a:pt x="12405613" y="6592697"/>
                </a:lnTo>
                <a:lnTo>
                  <a:pt x="0" y="6592697"/>
                </a:lnTo>
                <a:lnTo>
                  <a:pt x="0" y="0"/>
                </a:lnTo>
                <a:close/>
              </a:path>
            </a:pathLst>
          </a:custGeom>
          <a:blipFill>
            <a:blip r:embed="rId4"/>
            <a:stretch>
              <a:fillRect l="0" t="0" r="0" b="0"/>
            </a:stretch>
          </a:blipFill>
        </p:spPr>
      </p:sp>
      <p:sp>
        <p:nvSpPr>
          <p:cNvPr name="TextBox 4" id="4"/>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5" id="5"/>
          <p:cNvSpPr txBox="true"/>
          <p:nvPr/>
        </p:nvSpPr>
        <p:spPr>
          <a:xfrm rot="0">
            <a:off x="488990" y="1686368"/>
            <a:ext cx="3450788"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Biểu đồ vào - ra của hệ thống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16215" y="1884804"/>
            <a:ext cx="12311208" cy="8011523"/>
          </a:xfrm>
          <a:custGeom>
            <a:avLst/>
            <a:gdLst/>
            <a:ahLst/>
            <a:cxnLst/>
            <a:rect r="r" b="b" t="t" l="l"/>
            <a:pathLst>
              <a:path h="8011523" w="12311208">
                <a:moveTo>
                  <a:pt x="0" y="0"/>
                </a:moveTo>
                <a:lnTo>
                  <a:pt x="12311208" y="0"/>
                </a:lnTo>
                <a:lnTo>
                  <a:pt x="12311208" y="8011523"/>
                </a:lnTo>
                <a:lnTo>
                  <a:pt x="0" y="8011523"/>
                </a:lnTo>
                <a:lnTo>
                  <a:pt x="0" y="0"/>
                </a:lnTo>
                <a:close/>
              </a:path>
            </a:pathLst>
          </a:custGeom>
          <a:blipFill>
            <a:blip r:embed="rId4"/>
            <a:stretch>
              <a:fillRect l="0" t="0" r="0" b="0"/>
            </a:stretch>
          </a:blipFill>
        </p:spPr>
      </p:sp>
      <p:sp>
        <p:nvSpPr>
          <p:cNvPr name="TextBox 4" id="4"/>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5" id="5"/>
          <p:cNvSpPr txBox="true"/>
          <p:nvPr/>
        </p:nvSpPr>
        <p:spPr>
          <a:xfrm rot="0">
            <a:off x="1374560" y="1837179"/>
            <a:ext cx="3232840" cy="824863"/>
          </a:xfrm>
          <a:prstGeom prst="rect">
            <a:avLst/>
          </a:prstGeom>
        </p:spPr>
        <p:txBody>
          <a:bodyPr anchor="t" rtlCol="false" tIns="0" lIns="0" bIns="0" rIns="0">
            <a:spAutoFit/>
          </a:bodyPr>
          <a:lstStyle/>
          <a:p>
            <a:pPr algn="ctr">
              <a:lnSpc>
                <a:spcPts val="3360"/>
              </a:lnSpc>
            </a:pPr>
            <a:r>
              <a:rPr lang="en-US" sz="2400" b="true">
                <a:solidFill>
                  <a:srgbClr val="0E2F5F"/>
                </a:solidFill>
                <a:latin typeface="Aileron Bold"/>
                <a:ea typeface="Aileron Bold"/>
                <a:cs typeface="Aileron Bold"/>
                <a:sym typeface="Aileron Bold"/>
              </a:rPr>
              <a:t>Biểu đồ usecase chính</a:t>
            </a:r>
          </a:p>
          <a:p>
            <a:pPr algn="ctr">
              <a:lnSpc>
                <a:spcPts val="336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2692306"/>
            <a:ext cx="8561745" cy="6901573"/>
          </a:xfrm>
          <a:custGeom>
            <a:avLst/>
            <a:gdLst/>
            <a:ahLst/>
            <a:cxnLst/>
            <a:rect r="r" b="b" t="t" l="l"/>
            <a:pathLst>
              <a:path h="6901573" w="8561745">
                <a:moveTo>
                  <a:pt x="0" y="0"/>
                </a:moveTo>
                <a:lnTo>
                  <a:pt x="8561745" y="0"/>
                </a:lnTo>
                <a:lnTo>
                  <a:pt x="8561745" y="6901573"/>
                </a:lnTo>
                <a:lnTo>
                  <a:pt x="0" y="6901573"/>
                </a:lnTo>
                <a:lnTo>
                  <a:pt x="0" y="0"/>
                </a:lnTo>
                <a:close/>
              </a:path>
            </a:pathLst>
          </a:custGeom>
          <a:blipFill>
            <a:blip r:embed="rId4"/>
            <a:stretch>
              <a:fillRect l="0" t="0" r="0" b="0"/>
            </a:stretch>
          </a:blipFill>
        </p:spPr>
      </p:sp>
      <p:sp>
        <p:nvSpPr>
          <p:cNvPr name="TextBox 4" id="4"/>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5" id="5"/>
          <p:cNvSpPr txBox="true"/>
          <p:nvPr/>
        </p:nvSpPr>
        <p:spPr>
          <a:xfrm rot="0">
            <a:off x="1091367" y="1996248"/>
            <a:ext cx="4049078"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Usecase đăng kí, đăng nhập</a:t>
            </a:r>
          </a:p>
        </p:txBody>
      </p:sp>
      <p:sp>
        <p:nvSpPr>
          <p:cNvPr name="Freeform 6" id="6"/>
          <p:cNvSpPr/>
          <p:nvPr/>
        </p:nvSpPr>
        <p:spPr>
          <a:xfrm flipH="false" flipV="false" rot="0">
            <a:off x="8580795" y="3413494"/>
            <a:ext cx="9726255" cy="6024887"/>
          </a:xfrm>
          <a:custGeom>
            <a:avLst/>
            <a:gdLst/>
            <a:ahLst/>
            <a:cxnLst/>
            <a:rect r="r" b="b" t="t" l="l"/>
            <a:pathLst>
              <a:path h="6024887" w="9726255">
                <a:moveTo>
                  <a:pt x="0" y="0"/>
                </a:moveTo>
                <a:lnTo>
                  <a:pt x="9726255" y="0"/>
                </a:lnTo>
                <a:lnTo>
                  <a:pt x="9726255" y="6024886"/>
                </a:lnTo>
                <a:lnTo>
                  <a:pt x="0" y="6024886"/>
                </a:lnTo>
                <a:lnTo>
                  <a:pt x="0" y="0"/>
                </a:lnTo>
                <a:close/>
              </a:path>
            </a:pathLst>
          </a:custGeom>
          <a:blipFill>
            <a:blip r:embed="rId5"/>
            <a:stretch>
              <a:fillRect l="0" t="0" r="-11835" b="0"/>
            </a:stretch>
          </a:blipFill>
        </p:spPr>
      </p:sp>
      <p:sp>
        <p:nvSpPr>
          <p:cNvPr name="TextBox 7" id="7"/>
          <p:cNvSpPr txBox="true"/>
          <p:nvPr/>
        </p:nvSpPr>
        <p:spPr>
          <a:xfrm rot="0">
            <a:off x="9568215" y="1996248"/>
            <a:ext cx="3412920" cy="807083"/>
          </a:xfrm>
          <a:prstGeom prst="rect">
            <a:avLst/>
          </a:prstGeom>
        </p:spPr>
        <p:txBody>
          <a:bodyPr anchor="t" rtlCol="false" tIns="0" lIns="0" bIns="0" rIns="0">
            <a:spAutoFit/>
          </a:bodyPr>
          <a:lstStyle/>
          <a:p>
            <a:pPr algn="ctr">
              <a:lnSpc>
                <a:spcPts val="3220"/>
              </a:lnSpc>
            </a:pPr>
            <a:r>
              <a:rPr lang="en-US" sz="2300" b="true">
                <a:solidFill>
                  <a:srgbClr val="0E2F5F"/>
                </a:solidFill>
                <a:latin typeface="Aileron Bold"/>
                <a:ea typeface="Aileron Bold"/>
                <a:cs typeface="Aileron Bold"/>
                <a:sym typeface="Aileron Bold"/>
              </a:rPr>
              <a:t>Use đặt tour,thanh toán </a:t>
            </a:r>
          </a:p>
          <a:p>
            <a:pPr algn="ctr">
              <a:lnSpc>
                <a:spcPts val="336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37809" y="1713521"/>
            <a:ext cx="10834202" cy="7831762"/>
          </a:xfrm>
          <a:custGeom>
            <a:avLst/>
            <a:gdLst/>
            <a:ahLst/>
            <a:cxnLst/>
            <a:rect r="r" b="b" t="t" l="l"/>
            <a:pathLst>
              <a:path h="7831762" w="10834202">
                <a:moveTo>
                  <a:pt x="0" y="0"/>
                </a:moveTo>
                <a:lnTo>
                  <a:pt x="10834202" y="0"/>
                </a:lnTo>
                <a:lnTo>
                  <a:pt x="10834202" y="7831763"/>
                </a:lnTo>
                <a:lnTo>
                  <a:pt x="0" y="7831763"/>
                </a:lnTo>
                <a:lnTo>
                  <a:pt x="0" y="0"/>
                </a:lnTo>
                <a:close/>
              </a:path>
            </a:pathLst>
          </a:custGeom>
          <a:blipFill>
            <a:blip r:embed="rId4"/>
            <a:stretch>
              <a:fillRect l="0" t="0" r="0" b="0"/>
            </a:stretch>
          </a:blipFill>
        </p:spPr>
      </p:sp>
      <p:sp>
        <p:nvSpPr>
          <p:cNvPr name="TextBox 4" id="4"/>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5" id="5"/>
          <p:cNvSpPr txBox="true"/>
          <p:nvPr/>
        </p:nvSpPr>
        <p:spPr>
          <a:xfrm rot="0">
            <a:off x="1672084" y="1837179"/>
            <a:ext cx="2518291"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Usecase tìm kiếm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670616"/>
            <a:ext cx="9552404" cy="6773970"/>
          </a:xfrm>
          <a:custGeom>
            <a:avLst/>
            <a:gdLst/>
            <a:ahLst/>
            <a:cxnLst/>
            <a:rect r="r" b="b" t="t" l="l"/>
            <a:pathLst>
              <a:path h="6773970" w="9552404">
                <a:moveTo>
                  <a:pt x="0" y="0"/>
                </a:moveTo>
                <a:lnTo>
                  <a:pt x="9552404" y="0"/>
                </a:lnTo>
                <a:lnTo>
                  <a:pt x="9552404" y="6773970"/>
                </a:lnTo>
                <a:lnTo>
                  <a:pt x="0" y="6773970"/>
                </a:lnTo>
                <a:lnTo>
                  <a:pt x="0" y="0"/>
                </a:lnTo>
                <a:close/>
              </a:path>
            </a:pathLst>
          </a:custGeom>
          <a:blipFill>
            <a:blip r:embed="rId2"/>
            <a:stretch>
              <a:fillRect l="-4025" t="0" r="0" b="0"/>
            </a:stretch>
          </a:blipFill>
        </p:spPr>
      </p:sp>
      <p:sp>
        <p:nvSpPr>
          <p:cNvPr name="TextBox 3" id="3"/>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4" id="4"/>
          <p:cNvSpPr txBox="true"/>
          <p:nvPr/>
        </p:nvSpPr>
        <p:spPr>
          <a:xfrm rot="0">
            <a:off x="2697381" y="1623308"/>
            <a:ext cx="3773081" cy="1243965"/>
          </a:xfrm>
          <a:prstGeom prst="rect">
            <a:avLst/>
          </a:prstGeom>
        </p:spPr>
        <p:txBody>
          <a:bodyPr anchor="t" rtlCol="false" tIns="0" lIns="0" bIns="0" rIns="0">
            <a:spAutoFit/>
          </a:bodyPr>
          <a:lstStyle/>
          <a:p>
            <a:pPr algn="ctr">
              <a:lnSpc>
                <a:spcPts val="3359"/>
              </a:lnSpc>
            </a:pPr>
          </a:p>
          <a:p>
            <a:pPr algn="ctr">
              <a:lnSpc>
                <a:spcPts val="3359"/>
              </a:lnSpc>
              <a:spcBef>
                <a:spcPct val="0"/>
              </a:spcBef>
            </a:pPr>
            <a:r>
              <a:rPr lang="en-US" b="true" sz="2400">
                <a:solidFill>
                  <a:srgbClr val="0E2F5F"/>
                </a:solidFill>
                <a:latin typeface="Aileron Bold"/>
                <a:ea typeface="Aileron Bold"/>
                <a:cs typeface="Aileron Bold"/>
                <a:sym typeface="Aileron Bold"/>
              </a:rPr>
              <a:t>Usecase đánh giá nhận xét</a:t>
            </a:r>
          </a:p>
        </p:txBody>
      </p:sp>
      <p:sp>
        <p:nvSpPr>
          <p:cNvPr name="Freeform 5" id="5"/>
          <p:cNvSpPr/>
          <p:nvPr/>
        </p:nvSpPr>
        <p:spPr>
          <a:xfrm flipH="false" flipV="false" rot="0">
            <a:off x="8747731" y="3258870"/>
            <a:ext cx="9540269" cy="5597462"/>
          </a:xfrm>
          <a:custGeom>
            <a:avLst/>
            <a:gdLst/>
            <a:ahLst/>
            <a:cxnLst/>
            <a:rect r="r" b="b" t="t" l="l"/>
            <a:pathLst>
              <a:path h="5597462" w="9540269">
                <a:moveTo>
                  <a:pt x="0" y="0"/>
                </a:moveTo>
                <a:lnTo>
                  <a:pt x="9540269" y="0"/>
                </a:lnTo>
                <a:lnTo>
                  <a:pt x="9540269" y="5597462"/>
                </a:lnTo>
                <a:lnTo>
                  <a:pt x="0" y="5597462"/>
                </a:lnTo>
                <a:lnTo>
                  <a:pt x="0" y="0"/>
                </a:lnTo>
                <a:close/>
              </a:path>
            </a:pathLst>
          </a:custGeom>
          <a:blipFill>
            <a:blip r:embed="rId3"/>
            <a:stretch>
              <a:fillRect l="0" t="0" r="-3240" b="0"/>
            </a:stretch>
          </a:blipFill>
        </p:spPr>
      </p:sp>
      <p:sp>
        <p:nvSpPr>
          <p:cNvPr name="TextBox 6" id="6"/>
          <p:cNvSpPr txBox="true"/>
          <p:nvPr/>
        </p:nvSpPr>
        <p:spPr>
          <a:xfrm rot="0">
            <a:off x="11785881" y="2055619"/>
            <a:ext cx="3773081" cy="1226183"/>
          </a:xfrm>
          <a:prstGeom prst="rect">
            <a:avLst/>
          </a:prstGeom>
        </p:spPr>
        <p:txBody>
          <a:bodyPr anchor="t" rtlCol="false" tIns="0" lIns="0" bIns="0" rIns="0">
            <a:spAutoFit/>
          </a:bodyPr>
          <a:lstStyle/>
          <a:p>
            <a:pPr algn="ctr">
              <a:lnSpc>
                <a:spcPts val="3360"/>
              </a:lnSpc>
            </a:pPr>
            <a:r>
              <a:rPr lang="en-US" sz="2400" b="true">
                <a:solidFill>
                  <a:srgbClr val="0E2F5F"/>
                </a:solidFill>
                <a:latin typeface="Aileron Bold"/>
                <a:ea typeface="Aileron Bold"/>
                <a:cs typeface="Aileron Bold"/>
                <a:sym typeface="Aileron Bold"/>
              </a:rPr>
              <a:t>Usecase hỗ trợ khách hàng</a:t>
            </a:r>
          </a:p>
          <a:p>
            <a:pPr algn="ctr">
              <a:lnSpc>
                <a:spcPts val="322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053475" y="1535873"/>
            <a:ext cx="10181050" cy="8751127"/>
          </a:xfrm>
          <a:custGeom>
            <a:avLst/>
            <a:gdLst/>
            <a:ahLst/>
            <a:cxnLst/>
            <a:rect r="r" b="b" t="t" l="l"/>
            <a:pathLst>
              <a:path h="8751127" w="10181050">
                <a:moveTo>
                  <a:pt x="0" y="0"/>
                </a:moveTo>
                <a:lnTo>
                  <a:pt x="10181050" y="0"/>
                </a:lnTo>
                <a:lnTo>
                  <a:pt x="10181050" y="8751127"/>
                </a:lnTo>
                <a:lnTo>
                  <a:pt x="0" y="8751127"/>
                </a:lnTo>
                <a:lnTo>
                  <a:pt x="0" y="0"/>
                </a:lnTo>
                <a:close/>
              </a:path>
            </a:pathLst>
          </a:custGeom>
          <a:blipFill>
            <a:blip r:embed="rId4"/>
            <a:stretch>
              <a:fillRect l="0" t="0" r="0" b="0"/>
            </a:stretch>
          </a:blipFill>
        </p:spPr>
      </p:sp>
      <p:sp>
        <p:nvSpPr>
          <p:cNvPr name="TextBox 4" id="4"/>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5" id="5"/>
          <p:cNvSpPr txBox="true"/>
          <p:nvPr/>
        </p:nvSpPr>
        <p:spPr>
          <a:xfrm rot="0">
            <a:off x="1516172" y="1466340"/>
            <a:ext cx="4315778" cy="824863"/>
          </a:xfrm>
          <a:prstGeom prst="rect">
            <a:avLst/>
          </a:prstGeom>
        </p:spPr>
        <p:txBody>
          <a:bodyPr anchor="t" rtlCol="false" tIns="0" lIns="0" bIns="0" rIns="0">
            <a:spAutoFit/>
          </a:bodyPr>
          <a:lstStyle/>
          <a:p>
            <a:pPr algn="ctr">
              <a:lnSpc>
                <a:spcPts val="3360"/>
              </a:lnSpc>
              <a:spcBef>
                <a:spcPct val="0"/>
              </a:spcBef>
            </a:pPr>
          </a:p>
          <a:p>
            <a:pPr algn="ctr">
              <a:lnSpc>
                <a:spcPts val="3360"/>
              </a:lnSpc>
              <a:spcBef>
                <a:spcPct val="0"/>
              </a:spcBef>
            </a:pPr>
            <a:r>
              <a:rPr lang="en-US" b="true" sz="2400">
                <a:solidFill>
                  <a:srgbClr val="0E2F5F"/>
                </a:solidFill>
                <a:latin typeface="Aileron Bold"/>
                <a:ea typeface="Aileron Bold"/>
                <a:cs typeface="Aileron Bold"/>
                <a:sym typeface="Aileron Bold"/>
              </a:rPr>
              <a:t>Usecase chức năng nhân viên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7585" y="2817275"/>
            <a:ext cx="9331585" cy="5728804"/>
          </a:xfrm>
          <a:custGeom>
            <a:avLst/>
            <a:gdLst/>
            <a:ahLst/>
            <a:cxnLst/>
            <a:rect r="r" b="b" t="t" l="l"/>
            <a:pathLst>
              <a:path h="5728804" w="9331585">
                <a:moveTo>
                  <a:pt x="0" y="0"/>
                </a:moveTo>
                <a:lnTo>
                  <a:pt x="9331585" y="0"/>
                </a:lnTo>
                <a:lnTo>
                  <a:pt x="9331585" y="5728804"/>
                </a:lnTo>
                <a:lnTo>
                  <a:pt x="0" y="5728804"/>
                </a:lnTo>
                <a:lnTo>
                  <a:pt x="0" y="0"/>
                </a:lnTo>
                <a:close/>
              </a:path>
            </a:pathLst>
          </a:custGeom>
          <a:blipFill>
            <a:blip r:embed="rId2"/>
            <a:stretch>
              <a:fillRect l="0" t="0" r="0" b="0"/>
            </a:stretch>
          </a:blipFill>
        </p:spPr>
      </p:sp>
      <p:sp>
        <p:nvSpPr>
          <p:cNvPr name="TextBox 3" id="3"/>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4" id="4"/>
          <p:cNvSpPr txBox="true"/>
          <p:nvPr/>
        </p:nvSpPr>
        <p:spPr>
          <a:xfrm rot="0">
            <a:off x="691049" y="1488248"/>
            <a:ext cx="3773081" cy="781048"/>
          </a:xfrm>
          <a:prstGeom prst="rect">
            <a:avLst/>
          </a:prstGeom>
        </p:spPr>
        <p:txBody>
          <a:bodyPr anchor="t" rtlCol="false" tIns="0" lIns="0" bIns="0" rIns="0">
            <a:spAutoFit/>
          </a:bodyPr>
          <a:lstStyle/>
          <a:p>
            <a:pPr algn="ctr">
              <a:lnSpc>
                <a:spcPts val="2940"/>
              </a:lnSpc>
            </a:pPr>
            <a:r>
              <a:rPr lang="en-US" sz="2100" b="true">
                <a:solidFill>
                  <a:srgbClr val="0E2F5F"/>
                </a:solidFill>
                <a:latin typeface="Aileron Bold"/>
                <a:ea typeface="Aileron Bold"/>
                <a:cs typeface="Aileron Bold"/>
                <a:sym typeface="Aileron Bold"/>
              </a:rPr>
              <a:t>Usecase quản lý nhân viên</a:t>
            </a:r>
          </a:p>
          <a:p>
            <a:pPr algn="ctr">
              <a:lnSpc>
                <a:spcPts val="3360"/>
              </a:lnSpc>
              <a:spcBef>
                <a:spcPct val="0"/>
              </a:spcBef>
            </a:pPr>
          </a:p>
        </p:txBody>
      </p:sp>
      <p:sp>
        <p:nvSpPr>
          <p:cNvPr name="Freeform 5" id="5"/>
          <p:cNvSpPr/>
          <p:nvPr/>
        </p:nvSpPr>
        <p:spPr>
          <a:xfrm flipH="false" flipV="false" rot="0">
            <a:off x="9798781" y="2600718"/>
            <a:ext cx="8489219" cy="6161919"/>
          </a:xfrm>
          <a:custGeom>
            <a:avLst/>
            <a:gdLst/>
            <a:ahLst/>
            <a:cxnLst/>
            <a:rect r="r" b="b" t="t" l="l"/>
            <a:pathLst>
              <a:path h="6161919" w="8489219">
                <a:moveTo>
                  <a:pt x="0" y="0"/>
                </a:moveTo>
                <a:lnTo>
                  <a:pt x="8489219" y="0"/>
                </a:lnTo>
                <a:lnTo>
                  <a:pt x="8489219" y="6161919"/>
                </a:lnTo>
                <a:lnTo>
                  <a:pt x="0" y="6161919"/>
                </a:lnTo>
                <a:lnTo>
                  <a:pt x="0" y="0"/>
                </a:lnTo>
                <a:close/>
              </a:path>
            </a:pathLst>
          </a:custGeom>
          <a:blipFill>
            <a:blip r:embed="rId3"/>
            <a:stretch>
              <a:fillRect l="0" t="0" r="0" b="0"/>
            </a:stretch>
          </a:blipFill>
        </p:spPr>
      </p:sp>
      <p:sp>
        <p:nvSpPr>
          <p:cNvPr name="TextBox 6" id="6"/>
          <p:cNvSpPr txBox="true"/>
          <p:nvPr/>
        </p:nvSpPr>
        <p:spPr>
          <a:xfrm rot="0">
            <a:off x="11728711" y="1488248"/>
            <a:ext cx="4136677" cy="791518"/>
          </a:xfrm>
          <a:prstGeom prst="rect">
            <a:avLst/>
          </a:prstGeom>
        </p:spPr>
        <p:txBody>
          <a:bodyPr anchor="t" rtlCol="false" tIns="0" lIns="0" bIns="0" rIns="0">
            <a:spAutoFit/>
          </a:bodyPr>
          <a:lstStyle/>
          <a:p>
            <a:pPr algn="ctr">
              <a:lnSpc>
                <a:spcPts val="2945"/>
              </a:lnSpc>
            </a:pPr>
            <a:r>
              <a:rPr lang="en-US" sz="2104" b="true">
                <a:solidFill>
                  <a:srgbClr val="0E2F5F"/>
                </a:solidFill>
                <a:latin typeface="Aileron Bold"/>
                <a:ea typeface="Aileron Bold"/>
                <a:cs typeface="Aileron Bold"/>
                <a:sym typeface="Aileron Bold"/>
              </a:rPr>
              <a:t>Usecase quản lý doanh thu</a:t>
            </a:r>
          </a:p>
          <a:p>
            <a:pPr algn="ctr">
              <a:lnSpc>
                <a:spcPts val="3406"/>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15948" y="2787774"/>
            <a:ext cx="7411379" cy="5945281"/>
          </a:xfrm>
          <a:custGeom>
            <a:avLst/>
            <a:gdLst/>
            <a:ahLst/>
            <a:cxnLst/>
            <a:rect r="r" b="b" t="t" l="l"/>
            <a:pathLst>
              <a:path h="5945281" w="7411379">
                <a:moveTo>
                  <a:pt x="0" y="0"/>
                </a:moveTo>
                <a:lnTo>
                  <a:pt x="7411379" y="0"/>
                </a:lnTo>
                <a:lnTo>
                  <a:pt x="7411379" y="5945280"/>
                </a:lnTo>
                <a:lnTo>
                  <a:pt x="0" y="5945280"/>
                </a:lnTo>
                <a:lnTo>
                  <a:pt x="0" y="0"/>
                </a:lnTo>
                <a:close/>
              </a:path>
            </a:pathLst>
          </a:custGeom>
          <a:blipFill>
            <a:blip r:embed="rId4"/>
            <a:stretch>
              <a:fillRect l="0" t="0" r="0" b="0"/>
            </a:stretch>
          </a:blipFill>
        </p:spPr>
      </p:sp>
      <p:sp>
        <p:nvSpPr>
          <p:cNvPr name="Freeform 4" id="4"/>
          <p:cNvSpPr/>
          <p:nvPr/>
        </p:nvSpPr>
        <p:spPr>
          <a:xfrm flipH="false" flipV="false" rot="0">
            <a:off x="9432387" y="2966395"/>
            <a:ext cx="8337201" cy="5766659"/>
          </a:xfrm>
          <a:custGeom>
            <a:avLst/>
            <a:gdLst/>
            <a:ahLst/>
            <a:cxnLst/>
            <a:rect r="r" b="b" t="t" l="l"/>
            <a:pathLst>
              <a:path h="5766659" w="8337201">
                <a:moveTo>
                  <a:pt x="0" y="0"/>
                </a:moveTo>
                <a:lnTo>
                  <a:pt x="8337201" y="0"/>
                </a:lnTo>
                <a:lnTo>
                  <a:pt x="8337201" y="5766659"/>
                </a:lnTo>
                <a:lnTo>
                  <a:pt x="0" y="5766659"/>
                </a:lnTo>
                <a:lnTo>
                  <a:pt x="0" y="0"/>
                </a:lnTo>
                <a:close/>
              </a:path>
            </a:pathLst>
          </a:custGeom>
          <a:blipFill>
            <a:blip r:embed="rId5"/>
            <a:stretch>
              <a:fillRect l="0" t="0" r="0" b="0"/>
            </a:stretch>
          </a:blipFill>
        </p:spPr>
      </p:sp>
      <p:sp>
        <p:nvSpPr>
          <p:cNvPr name="TextBox 5" id="5"/>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6" id="6"/>
          <p:cNvSpPr txBox="true"/>
          <p:nvPr/>
        </p:nvSpPr>
        <p:spPr>
          <a:xfrm rot="0">
            <a:off x="1562616" y="1658110"/>
            <a:ext cx="3106579"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 Khách hàng đăng ký</a:t>
            </a:r>
          </a:p>
        </p:txBody>
      </p:sp>
      <p:sp>
        <p:nvSpPr>
          <p:cNvPr name="TextBox 7" id="7"/>
          <p:cNvSpPr txBox="true"/>
          <p:nvPr/>
        </p:nvSpPr>
        <p:spPr>
          <a:xfrm rot="0">
            <a:off x="9432387" y="1282822"/>
            <a:ext cx="3515320" cy="824863"/>
          </a:xfrm>
          <a:prstGeom prst="rect">
            <a:avLst/>
          </a:prstGeom>
        </p:spPr>
        <p:txBody>
          <a:bodyPr anchor="t" rtlCol="false" tIns="0" lIns="0" bIns="0" rIns="0">
            <a:spAutoFit/>
          </a:bodyPr>
          <a:lstStyle/>
          <a:p>
            <a:pPr algn="ctr">
              <a:lnSpc>
                <a:spcPts val="3360"/>
              </a:lnSpc>
              <a:spcBef>
                <a:spcPct val="0"/>
              </a:spcBef>
            </a:pPr>
          </a:p>
          <a:p>
            <a:pPr algn="ctr">
              <a:lnSpc>
                <a:spcPts val="3360"/>
              </a:lnSpc>
              <a:spcBef>
                <a:spcPct val="0"/>
              </a:spcBef>
            </a:pPr>
            <a:r>
              <a:rPr lang="en-US" b="true" sz="2400">
                <a:solidFill>
                  <a:srgbClr val="0E2F5F"/>
                </a:solidFill>
                <a:latin typeface="Aileron Bold"/>
                <a:ea typeface="Aileron Bold"/>
                <a:cs typeface="Aileron Bold"/>
                <a:sym typeface="Aileron Bold"/>
              </a:rPr>
              <a:t>- Khách hàng đăng nhập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464559"/>
            <a:ext cx="6791900" cy="6087692"/>
          </a:xfrm>
          <a:custGeom>
            <a:avLst/>
            <a:gdLst/>
            <a:ahLst/>
            <a:cxnLst/>
            <a:rect r="r" b="b" t="t" l="l"/>
            <a:pathLst>
              <a:path h="6087692" w="6791900">
                <a:moveTo>
                  <a:pt x="0" y="0"/>
                </a:moveTo>
                <a:lnTo>
                  <a:pt x="6791900" y="0"/>
                </a:lnTo>
                <a:lnTo>
                  <a:pt x="6791900" y="6087692"/>
                </a:lnTo>
                <a:lnTo>
                  <a:pt x="0" y="6087692"/>
                </a:lnTo>
                <a:lnTo>
                  <a:pt x="0" y="0"/>
                </a:lnTo>
                <a:close/>
              </a:path>
            </a:pathLst>
          </a:custGeom>
          <a:blipFill>
            <a:blip r:embed="rId4"/>
            <a:stretch>
              <a:fillRect l="0" t="0" r="0" b="0"/>
            </a:stretch>
          </a:blipFill>
        </p:spPr>
      </p:sp>
      <p:sp>
        <p:nvSpPr>
          <p:cNvPr name="Freeform 4" id="4"/>
          <p:cNvSpPr/>
          <p:nvPr/>
        </p:nvSpPr>
        <p:spPr>
          <a:xfrm flipH="false" flipV="false" rot="0">
            <a:off x="10909678" y="2464559"/>
            <a:ext cx="6268314" cy="6225556"/>
          </a:xfrm>
          <a:custGeom>
            <a:avLst/>
            <a:gdLst/>
            <a:ahLst/>
            <a:cxnLst/>
            <a:rect r="r" b="b" t="t" l="l"/>
            <a:pathLst>
              <a:path h="6225556" w="6268314">
                <a:moveTo>
                  <a:pt x="0" y="0"/>
                </a:moveTo>
                <a:lnTo>
                  <a:pt x="6268314" y="0"/>
                </a:lnTo>
                <a:lnTo>
                  <a:pt x="6268314" y="6225557"/>
                </a:lnTo>
                <a:lnTo>
                  <a:pt x="0" y="6225557"/>
                </a:lnTo>
                <a:lnTo>
                  <a:pt x="0" y="0"/>
                </a:lnTo>
                <a:close/>
              </a:path>
            </a:pathLst>
          </a:custGeom>
          <a:blipFill>
            <a:blip r:embed="rId5"/>
            <a:stretch>
              <a:fillRect l="0" t="0" r="0" b="0"/>
            </a:stretch>
          </a:blipFill>
        </p:spPr>
      </p:sp>
      <p:sp>
        <p:nvSpPr>
          <p:cNvPr name="TextBox 5" id="5"/>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6" id="6"/>
          <p:cNvSpPr txBox="true"/>
          <p:nvPr/>
        </p:nvSpPr>
        <p:spPr>
          <a:xfrm rot="0">
            <a:off x="1028700" y="1496821"/>
            <a:ext cx="3030736"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-Khách hàng đặt tour</a:t>
            </a:r>
          </a:p>
        </p:txBody>
      </p:sp>
      <p:sp>
        <p:nvSpPr>
          <p:cNvPr name="TextBox 7" id="7"/>
          <p:cNvSpPr txBox="true"/>
          <p:nvPr/>
        </p:nvSpPr>
        <p:spPr>
          <a:xfrm rot="0">
            <a:off x="10909678" y="1658110"/>
            <a:ext cx="1916073"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 Quản lý tour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35208" y="776090"/>
            <a:ext cx="1583878" cy="1108714"/>
          </a:xfrm>
          <a:custGeom>
            <a:avLst/>
            <a:gdLst/>
            <a:ahLst/>
            <a:cxnLst/>
            <a:rect r="r" b="b" t="t" l="l"/>
            <a:pathLst>
              <a:path h="1108714" w="1583878">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6310" y="2693150"/>
            <a:ext cx="6276198" cy="6170270"/>
          </a:xfrm>
          <a:custGeom>
            <a:avLst/>
            <a:gdLst/>
            <a:ahLst/>
            <a:cxnLst/>
            <a:rect r="r" b="b" t="t" l="l"/>
            <a:pathLst>
              <a:path h="6170270" w="6276198">
                <a:moveTo>
                  <a:pt x="0" y="0"/>
                </a:moveTo>
                <a:lnTo>
                  <a:pt x="6276198" y="0"/>
                </a:lnTo>
                <a:lnTo>
                  <a:pt x="6276198" y="6170270"/>
                </a:lnTo>
                <a:lnTo>
                  <a:pt x="0" y="6170270"/>
                </a:lnTo>
                <a:lnTo>
                  <a:pt x="0" y="0"/>
                </a:lnTo>
                <a:close/>
              </a:path>
            </a:pathLst>
          </a:custGeom>
          <a:blipFill>
            <a:blip r:embed="rId4"/>
            <a:stretch>
              <a:fillRect l="0" t="0" r="0" b="0"/>
            </a:stretch>
          </a:blipFill>
        </p:spPr>
      </p:sp>
      <p:sp>
        <p:nvSpPr>
          <p:cNvPr name="Freeform 4" id="4"/>
          <p:cNvSpPr/>
          <p:nvPr/>
        </p:nvSpPr>
        <p:spPr>
          <a:xfrm flipH="false" flipV="false" rot="0">
            <a:off x="9144000" y="2787774"/>
            <a:ext cx="6840935" cy="6075647"/>
          </a:xfrm>
          <a:custGeom>
            <a:avLst/>
            <a:gdLst/>
            <a:ahLst/>
            <a:cxnLst/>
            <a:rect r="r" b="b" t="t" l="l"/>
            <a:pathLst>
              <a:path h="6075647" w="6840935">
                <a:moveTo>
                  <a:pt x="0" y="0"/>
                </a:moveTo>
                <a:lnTo>
                  <a:pt x="6840935" y="0"/>
                </a:lnTo>
                <a:lnTo>
                  <a:pt x="6840935" y="6075646"/>
                </a:lnTo>
                <a:lnTo>
                  <a:pt x="0" y="6075646"/>
                </a:lnTo>
                <a:lnTo>
                  <a:pt x="0" y="0"/>
                </a:lnTo>
                <a:close/>
              </a:path>
            </a:pathLst>
          </a:custGeom>
          <a:blipFill>
            <a:blip r:embed="rId5"/>
            <a:stretch>
              <a:fillRect l="0" t="0" r="0" b="0"/>
            </a:stretch>
          </a:blipFill>
        </p:spPr>
      </p:sp>
      <p:sp>
        <p:nvSpPr>
          <p:cNvPr name="TextBox 5" id="5"/>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6" id="6"/>
          <p:cNvSpPr txBox="true"/>
          <p:nvPr/>
        </p:nvSpPr>
        <p:spPr>
          <a:xfrm rot="0">
            <a:off x="1028700" y="1658110"/>
            <a:ext cx="2678073"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-Quản lý nhân viên</a:t>
            </a:r>
          </a:p>
        </p:txBody>
      </p:sp>
      <p:sp>
        <p:nvSpPr>
          <p:cNvPr name="TextBox 7" id="7"/>
          <p:cNvSpPr txBox="true"/>
          <p:nvPr/>
        </p:nvSpPr>
        <p:spPr>
          <a:xfrm rot="0">
            <a:off x="9144000" y="1658110"/>
            <a:ext cx="2738676"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-Quản lý doanh thu</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0808" y="2274531"/>
            <a:ext cx="5300114" cy="6356958"/>
          </a:xfrm>
          <a:custGeom>
            <a:avLst/>
            <a:gdLst/>
            <a:ahLst/>
            <a:cxnLst/>
            <a:rect r="r" b="b" t="t" l="l"/>
            <a:pathLst>
              <a:path h="6356958" w="5300114">
                <a:moveTo>
                  <a:pt x="0" y="0"/>
                </a:moveTo>
                <a:lnTo>
                  <a:pt x="5300114" y="0"/>
                </a:lnTo>
                <a:lnTo>
                  <a:pt x="5300114" y="6356958"/>
                </a:lnTo>
                <a:lnTo>
                  <a:pt x="0" y="6356958"/>
                </a:lnTo>
                <a:lnTo>
                  <a:pt x="0" y="0"/>
                </a:lnTo>
                <a:close/>
              </a:path>
            </a:pathLst>
          </a:custGeom>
          <a:blipFill>
            <a:blip r:embed="rId2"/>
            <a:stretch>
              <a:fillRect l="0" t="0" r="0" b="0"/>
            </a:stretch>
          </a:blipFill>
        </p:spPr>
      </p:sp>
      <p:sp>
        <p:nvSpPr>
          <p:cNvPr name="Freeform 3" id="3"/>
          <p:cNvSpPr/>
          <p:nvPr/>
        </p:nvSpPr>
        <p:spPr>
          <a:xfrm flipH="false" flipV="false" rot="0">
            <a:off x="6200197" y="2274531"/>
            <a:ext cx="5887606" cy="6337409"/>
          </a:xfrm>
          <a:custGeom>
            <a:avLst/>
            <a:gdLst/>
            <a:ahLst/>
            <a:cxnLst/>
            <a:rect r="r" b="b" t="t" l="l"/>
            <a:pathLst>
              <a:path h="6337409" w="5887606">
                <a:moveTo>
                  <a:pt x="0" y="0"/>
                </a:moveTo>
                <a:lnTo>
                  <a:pt x="5887606" y="0"/>
                </a:lnTo>
                <a:lnTo>
                  <a:pt x="5887606" y="6337409"/>
                </a:lnTo>
                <a:lnTo>
                  <a:pt x="0" y="6337409"/>
                </a:lnTo>
                <a:lnTo>
                  <a:pt x="0" y="0"/>
                </a:lnTo>
                <a:close/>
              </a:path>
            </a:pathLst>
          </a:custGeom>
          <a:blipFill>
            <a:blip r:embed="rId3"/>
            <a:stretch>
              <a:fillRect l="0" t="0" r="0" b="0"/>
            </a:stretch>
          </a:blipFill>
        </p:spPr>
      </p:sp>
      <p:sp>
        <p:nvSpPr>
          <p:cNvPr name="Freeform 4" id="4"/>
          <p:cNvSpPr/>
          <p:nvPr/>
        </p:nvSpPr>
        <p:spPr>
          <a:xfrm flipH="false" flipV="false" rot="0">
            <a:off x="12645411" y="2344004"/>
            <a:ext cx="5642589" cy="6218013"/>
          </a:xfrm>
          <a:custGeom>
            <a:avLst/>
            <a:gdLst/>
            <a:ahLst/>
            <a:cxnLst/>
            <a:rect r="r" b="b" t="t" l="l"/>
            <a:pathLst>
              <a:path h="6218013" w="5642589">
                <a:moveTo>
                  <a:pt x="0" y="0"/>
                </a:moveTo>
                <a:lnTo>
                  <a:pt x="5642589" y="0"/>
                </a:lnTo>
                <a:lnTo>
                  <a:pt x="5642589" y="6218013"/>
                </a:lnTo>
                <a:lnTo>
                  <a:pt x="0" y="6218013"/>
                </a:lnTo>
                <a:lnTo>
                  <a:pt x="0" y="0"/>
                </a:lnTo>
                <a:close/>
              </a:path>
            </a:pathLst>
          </a:custGeom>
          <a:blipFill>
            <a:blip r:embed="rId4"/>
            <a:stretch>
              <a:fillRect l="0" t="0" r="0" b="0"/>
            </a:stretch>
          </a:blipFill>
        </p:spPr>
      </p:sp>
      <p:sp>
        <p:nvSpPr>
          <p:cNvPr name="TextBox 5" id="5"/>
          <p:cNvSpPr txBox="true"/>
          <p:nvPr/>
        </p:nvSpPr>
        <p:spPr>
          <a:xfrm rot="0">
            <a:off x="3115906" y="330835"/>
            <a:ext cx="12056189" cy="65290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CHƯƠNG</a:t>
            </a:r>
            <a:r>
              <a:rPr lang="en-US" b="true" sz="3700" strike="noStrike" u="none">
                <a:solidFill>
                  <a:srgbClr val="0E2F5F"/>
                </a:solidFill>
                <a:latin typeface="Akzidenz-Grotesk Heavy"/>
                <a:ea typeface="Akzidenz-Grotesk Heavy"/>
                <a:cs typeface="Akzidenz-Grotesk Heavy"/>
                <a:sym typeface="Akzidenz-Grotesk Heavy"/>
              </a:rPr>
              <a:t> II. PHÂN TÍCH HỆ THỐNG</a:t>
            </a:r>
          </a:p>
        </p:txBody>
      </p:sp>
      <p:sp>
        <p:nvSpPr>
          <p:cNvPr name="TextBox 6" id="6"/>
          <p:cNvSpPr txBox="true"/>
          <p:nvPr/>
        </p:nvSpPr>
        <p:spPr>
          <a:xfrm rot="0">
            <a:off x="7240255" y="1483013"/>
            <a:ext cx="4136677" cy="824865"/>
          </a:xfrm>
          <a:prstGeom prst="rect">
            <a:avLst/>
          </a:prstGeom>
        </p:spPr>
        <p:txBody>
          <a:bodyPr anchor="t" rtlCol="false" tIns="0" lIns="0" bIns="0" rIns="0">
            <a:spAutoFit/>
          </a:bodyPr>
          <a:lstStyle/>
          <a:p>
            <a:pPr algn="ctr">
              <a:lnSpc>
                <a:spcPts val="3359"/>
              </a:lnSpc>
            </a:pPr>
            <a:r>
              <a:rPr lang="en-US" sz="2400" b="true">
                <a:solidFill>
                  <a:srgbClr val="0E2F5F"/>
                </a:solidFill>
                <a:latin typeface="Aileron Bold"/>
                <a:ea typeface="Aileron Bold"/>
                <a:cs typeface="Aileron Bold"/>
                <a:sym typeface="Aileron Bold"/>
              </a:rPr>
              <a:t>- Khách hàng thanh toán</a:t>
            </a:r>
          </a:p>
          <a:p>
            <a:pPr algn="ctr">
              <a:lnSpc>
                <a:spcPts val="3359"/>
              </a:lnSpc>
              <a:spcBef>
                <a:spcPct val="0"/>
              </a:spcBef>
            </a:pPr>
          </a:p>
        </p:txBody>
      </p:sp>
      <p:sp>
        <p:nvSpPr>
          <p:cNvPr name="TextBox 7" id="7"/>
          <p:cNvSpPr txBox="true"/>
          <p:nvPr/>
        </p:nvSpPr>
        <p:spPr>
          <a:xfrm rot="0">
            <a:off x="892727" y="1479041"/>
            <a:ext cx="3131582"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-Khách hàng tìm kiếm</a:t>
            </a:r>
          </a:p>
        </p:txBody>
      </p:sp>
      <p:sp>
        <p:nvSpPr>
          <p:cNvPr name="TextBox 8" id="8"/>
          <p:cNvSpPr txBox="true"/>
          <p:nvPr/>
        </p:nvSpPr>
        <p:spPr>
          <a:xfrm rot="0">
            <a:off x="14120098" y="1496821"/>
            <a:ext cx="3139202"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-Khách hàng đánh giá</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22735" y="-1820550"/>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98997" y="1698391"/>
            <a:ext cx="647477" cy="647477"/>
          </a:xfrm>
          <a:custGeom>
            <a:avLst/>
            <a:gdLst/>
            <a:ahLst/>
            <a:cxnLst/>
            <a:rect r="r" b="b" t="t" l="l"/>
            <a:pathLst>
              <a:path h="647477" w="647477">
                <a:moveTo>
                  <a:pt x="0" y="0"/>
                </a:moveTo>
                <a:lnTo>
                  <a:pt x="647477" y="0"/>
                </a:lnTo>
                <a:lnTo>
                  <a:pt x="647477" y="647477"/>
                </a:lnTo>
                <a:lnTo>
                  <a:pt x="0" y="6474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4989" y="2803180"/>
            <a:ext cx="7841134" cy="2888276"/>
          </a:xfrm>
          <a:custGeom>
            <a:avLst/>
            <a:gdLst/>
            <a:ahLst/>
            <a:cxnLst/>
            <a:rect r="r" b="b" t="t" l="l"/>
            <a:pathLst>
              <a:path h="2888276" w="7841134">
                <a:moveTo>
                  <a:pt x="0" y="0"/>
                </a:moveTo>
                <a:lnTo>
                  <a:pt x="7841133" y="0"/>
                </a:lnTo>
                <a:lnTo>
                  <a:pt x="7841133" y="2888275"/>
                </a:lnTo>
                <a:lnTo>
                  <a:pt x="0" y="2888275"/>
                </a:lnTo>
                <a:lnTo>
                  <a:pt x="0" y="0"/>
                </a:lnTo>
                <a:close/>
              </a:path>
            </a:pathLst>
          </a:custGeom>
          <a:blipFill>
            <a:blip r:embed="rId6"/>
            <a:stretch>
              <a:fillRect l="0" t="0" r="0" b="0"/>
            </a:stretch>
          </a:blipFill>
        </p:spPr>
      </p:sp>
      <p:sp>
        <p:nvSpPr>
          <p:cNvPr name="Freeform 5" id="5"/>
          <p:cNvSpPr/>
          <p:nvPr/>
        </p:nvSpPr>
        <p:spPr>
          <a:xfrm flipH="false" flipV="false" rot="0">
            <a:off x="394989" y="6469900"/>
            <a:ext cx="7841134" cy="3046941"/>
          </a:xfrm>
          <a:custGeom>
            <a:avLst/>
            <a:gdLst/>
            <a:ahLst/>
            <a:cxnLst/>
            <a:rect r="r" b="b" t="t" l="l"/>
            <a:pathLst>
              <a:path h="3046941" w="7841134">
                <a:moveTo>
                  <a:pt x="0" y="0"/>
                </a:moveTo>
                <a:lnTo>
                  <a:pt x="7841133" y="0"/>
                </a:lnTo>
                <a:lnTo>
                  <a:pt x="7841133" y="3046941"/>
                </a:lnTo>
                <a:lnTo>
                  <a:pt x="0" y="3046941"/>
                </a:lnTo>
                <a:lnTo>
                  <a:pt x="0" y="0"/>
                </a:lnTo>
                <a:close/>
              </a:path>
            </a:pathLst>
          </a:custGeom>
          <a:blipFill>
            <a:blip r:embed="rId7"/>
            <a:stretch>
              <a:fillRect l="0" t="0" r="-2687" b="0"/>
            </a:stretch>
          </a:blipFill>
        </p:spPr>
      </p:sp>
      <p:sp>
        <p:nvSpPr>
          <p:cNvPr name="Freeform 6" id="6"/>
          <p:cNvSpPr/>
          <p:nvPr/>
        </p:nvSpPr>
        <p:spPr>
          <a:xfrm flipH="false" flipV="false" rot="0">
            <a:off x="9459739" y="2833985"/>
            <a:ext cx="7799561" cy="2857470"/>
          </a:xfrm>
          <a:custGeom>
            <a:avLst/>
            <a:gdLst/>
            <a:ahLst/>
            <a:cxnLst/>
            <a:rect r="r" b="b" t="t" l="l"/>
            <a:pathLst>
              <a:path h="2857470" w="7799561">
                <a:moveTo>
                  <a:pt x="0" y="0"/>
                </a:moveTo>
                <a:lnTo>
                  <a:pt x="7799561" y="0"/>
                </a:lnTo>
                <a:lnTo>
                  <a:pt x="7799561" y="2857470"/>
                </a:lnTo>
                <a:lnTo>
                  <a:pt x="0" y="2857470"/>
                </a:lnTo>
                <a:lnTo>
                  <a:pt x="0" y="0"/>
                </a:lnTo>
                <a:close/>
              </a:path>
            </a:pathLst>
          </a:custGeom>
          <a:blipFill>
            <a:blip r:embed="rId8"/>
            <a:stretch>
              <a:fillRect l="0" t="0" r="-1337" b="0"/>
            </a:stretch>
          </a:blipFill>
        </p:spPr>
      </p:sp>
      <p:sp>
        <p:nvSpPr>
          <p:cNvPr name="Freeform 7" id="7"/>
          <p:cNvSpPr/>
          <p:nvPr/>
        </p:nvSpPr>
        <p:spPr>
          <a:xfrm flipH="false" flipV="false" rot="0">
            <a:off x="9459739" y="6469900"/>
            <a:ext cx="8146698" cy="2533813"/>
          </a:xfrm>
          <a:custGeom>
            <a:avLst/>
            <a:gdLst/>
            <a:ahLst/>
            <a:cxnLst/>
            <a:rect r="r" b="b" t="t" l="l"/>
            <a:pathLst>
              <a:path h="2533813" w="8146698">
                <a:moveTo>
                  <a:pt x="0" y="0"/>
                </a:moveTo>
                <a:lnTo>
                  <a:pt x="8146698" y="0"/>
                </a:lnTo>
                <a:lnTo>
                  <a:pt x="8146698" y="2533814"/>
                </a:lnTo>
                <a:lnTo>
                  <a:pt x="0" y="2533814"/>
                </a:lnTo>
                <a:lnTo>
                  <a:pt x="0" y="0"/>
                </a:lnTo>
                <a:close/>
              </a:path>
            </a:pathLst>
          </a:custGeom>
          <a:blipFill>
            <a:blip r:embed="rId9"/>
            <a:stretch>
              <a:fillRect l="0" t="0" r="-6886" b="0"/>
            </a:stretch>
          </a:blipFill>
        </p:spPr>
      </p:sp>
      <p:sp>
        <p:nvSpPr>
          <p:cNvPr name="TextBox 8" id="8"/>
          <p:cNvSpPr txBox="true"/>
          <p:nvPr/>
        </p:nvSpPr>
        <p:spPr>
          <a:xfrm rot="0">
            <a:off x="2045946" y="418370"/>
            <a:ext cx="12380353" cy="1262131"/>
          </a:xfrm>
          <a:prstGeom prst="rect">
            <a:avLst/>
          </a:prstGeom>
        </p:spPr>
        <p:txBody>
          <a:bodyPr anchor="t" rtlCol="false" tIns="0" lIns="0" bIns="0" rIns="0">
            <a:spAutoFit/>
          </a:bodyPr>
          <a:lstStyle/>
          <a:p>
            <a:pPr algn="ctr" marL="0" indent="0" lvl="0">
              <a:lnSpc>
                <a:spcPts val="4752"/>
              </a:lnSpc>
              <a:spcBef>
                <a:spcPct val="0"/>
              </a:spcBef>
            </a:pPr>
            <a:r>
              <a:rPr lang="en-US" b="true" sz="3742">
                <a:solidFill>
                  <a:srgbClr val="0E2F5F"/>
                </a:solidFill>
                <a:latin typeface="Akzidenz-Grotesk Heavy"/>
                <a:ea typeface="Akzidenz-Grotesk Heavy"/>
                <a:cs typeface="Akzidenz-Grotesk Heavy"/>
                <a:sym typeface="Akzidenz-Grotesk Heavy"/>
              </a:rPr>
              <a:t> CHƯƠNG </a:t>
            </a:r>
            <a:r>
              <a:rPr lang="en-US" b="true" sz="3742" strike="noStrike" u="none">
                <a:solidFill>
                  <a:srgbClr val="0E2F5F"/>
                </a:solidFill>
                <a:latin typeface="Akzidenz-Grotesk Heavy"/>
                <a:ea typeface="Akzidenz-Grotesk Heavy"/>
                <a:cs typeface="Akzidenz-Grotesk Heavy"/>
                <a:sym typeface="Akzidenz-Grotesk Heavy"/>
              </a:rPr>
              <a:t>III. THIẾT KẾ HỆ THỐNG</a:t>
            </a:r>
          </a:p>
          <a:p>
            <a:pPr algn="r" marL="0" indent="0" lvl="0">
              <a:lnSpc>
                <a:spcPts val="4752"/>
              </a:lnSpc>
              <a:spcBef>
                <a:spcPct val="0"/>
              </a:spcBef>
            </a:pPr>
          </a:p>
        </p:txBody>
      </p:sp>
      <p:sp>
        <p:nvSpPr>
          <p:cNvPr name="TextBox 9" id="9"/>
          <p:cNvSpPr txBox="true"/>
          <p:nvPr/>
        </p:nvSpPr>
        <p:spPr>
          <a:xfrm rot="0">
            <a:off x="394989" y="1632876"/>
            <a:ext cx="2970729" cy="389253"/>
          </a:xfrm>
          <a:prstGeom prst="rect">
            <a:avLst/>
          </a:prstGeom>
        </p:spPr>
        <p:txBody>
          <a:bodyPr anchor="t" rtlCol="false" tIns="0" lIns="0" bIns="0" rIns="0">
            <a:spAutoFit/>
          </a:bodyPr>
          <a:lstStyle/>
          <a:p>
            <a:pPr algn="ctr">
              <a:lnSpc>
                <a:spcPts val="3220"/>
              </a:lnSpc>
              <a:spcBef>
                <a:spcPct val="0"/>
              </a:spcBef>
            </a:pPr>
            <a:r>
              <a:rPr lang="en-US" b="true" sz="2300">
                <a:solidFill>
                  <a:srgbClr val="0E2F5F"/>
                </a:solidFill>
                <a:latin typeface="Aileron Bold"/>
                <a:ea typeface="Aileron Bold"/>
                <a:cs typeface="Aileron Bold"/>
                <a:sym typeface="Aileron Bold"/>
              </a:rPr>
              <a:t>Thiết kế cơ sở dữ liệu</a:t>
            </a:r>
          </a:p>
        </p:txBody>
      </p:sp>
      <p:sp>
        <p:nvSpPr>
          <p:cNvPr name="TextBox 10" id="10"/>
          <p:cNvSpPr txBox="true"/>
          <p:nvPr/>
        </p:nvSpPr>
        <p:spPr>
          <a:xfrm rot="0">
            <a:off x="563259" y="2298243"/>
            <a:ext cx="2169795"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KhachHang </a:t>
            </a:r>
          </a:p>
        </p:txBody>
      </p:sp>
      <p:sp>
        <p:nvSpPr>
          <p:cNvPr name="TextBox 11" id="11"/>
          <p:cNvSpPr txBox="true"/>
          <p:nvPr/>
        </p:nvSpPr>
        <p:spPr>
          <a:xfrm rot="0">
            <a:off x="563259" y="6120652"/>
            <a:ext cx="1889165"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NhanVien</a:t>
            </a:r>
          </a:p>
        </p:txBody>
      </p:sp>
      <p:sp>
        <p:nvSpPr>
          <p:cNvPr name="TextBox 12" id="12"/>
          <p:cNvSpPr txBox="true"/>
          <p:nvPr/>
        </p:nvSpPr>
        <p:spPr>
          <a:xfrm rot="0">
            <a:off x="10162606" y="2449054"/>
            <a:ext cx="1834515"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TaiKhoan</a:t>
            </a:r>
          </a:p>
        </p:txBody>
      </p:sp>
      <p:sp>
        <p:nvSpPr>
          <p:cNvPr name="TextBox 13" id="13"/>
          <p:cNvSpPr txBox="true"/>
          <p:nvPr/>
        </p:nvSpPr>
        <p:spPr>
          <a:xfrm rot="0">
            <a:off x="9702567" y="6120652"/>
            <a:ext cx="1759863"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LoaiTour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22735" y="-1820550"/>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3170608"/>
            <a:ext cx="6791900" cy="6087692"/>
          </a:xfrm>
          <a:custGeom>
            <a:avLst/>
            <a:gdLst/>
            <a:ahLst/>
            <a:cxnLst/>
            <a:rect r="r" b="b" t="t" l="l"/>
            <a:pathLst>
              <a:path h="6087692" w="6791900">
                <a:moveTo>
                  <a:pt x="0" y="0"/>
                </a:moveTo>
                <a:lnTo>
                  <a:pt x="6791900" y="0"/>
                </a:lnTo>
                <a:lnTo>
                  <a:pt x="6791900" y="6087692"/>
                </a:lnTo>
                <a:lnTo>
                  <a:pt x="0" y="6087692"/>
                </a:lnTo>
                <a:lnTo>
                  <a:pt x="0" y="0"/>
                </a:lnTo>
                <a:close/>
              </a:path>
            </a:pathLst>
          </a:custGeom>
          <a:blipFill>
            <a:blip r:embed="rId4"/>
            <a:stretch>
              <a:fillRect l="0" t="0" r="0" b="0"/>
            </a:stretch>
          </a:blipFill>
        </p:spPr>
      </p:sp>
      <p:sp>
        <p:nvSpPr>
          <p:cNvPr name="Freeform 4" id="4"/>
          <p:cNvSpPr/>
          <p:nvPr/>
        </p:nvSpPr>
        <p:spPr>
          <a:xfrm flipH="false" flipV="false" rot="0">
            <a:off x="9605891" y="3170608"/>
            <a:ext cx="8176627" cy="4986292"/>
          </a:xfrm>
          <a:custGeom>
            <a:avLst/>
            <a:gdLst/>
            <a:ahLst/>
            <a:cxnLst/>
            <a:rect r="r" b="b" t="t" l="l"/>
            <a:pathLst>
              <a:path h="4986292" w="8176627">
                <a:moveTo>
                  <a:pt x="0" y="0"/>
                </a:moveTo>
                <a:lnTo>
                  <a:pt x="8176626" y="0"/>
                </a:lnTo>
                <a:lnTo>
                  <a:pt x="8176626" y="4986292"/>
                </a:lnTo>
                <a:lnTo>
                  <a:pt x="0" y="4986292"/>
                </a:lnTo>
                <a:lnTo>
                  <a:pt x="0" y="0"/>
                </a:lnTo>
                <a:close/>
              </a:path>
            </a:pathLst>
          </a:custGeom>
          <a:blipFill>
            <a:blip r:embed="rId5"/>
            <a:stretch>
              <a:fillRect l="0" t="0" r="0" b="0"/>
            </a:stretch>
          </a:blipFill>
        </p:spPr>
      </p:sp>
      <p:sp>
        <p:nvSpPr>
          <p:cNvPr name="TextBox 5" id="5"/>
          <p:cNvSpPr txBox="true"/>
          <p:nvPr/>
        </p:nvSpPr>
        <p:spPr>
          <a:xfrm rot="0">
            <a:off x="2177186" y="589185"/>
            <a:ext cx="12380353" cy="1262131"/>
          </a:xfrm>
          <a:prstGeom prst="rect">
            <a:avLst/>
          </a:prstGeom>
        </p:spPr>
        <p:txBody>
          <a:bodyPr anchor="t" rtlCol="false" tIns="0" lIns="0" bIns="0" rIns="0">
            <a:spAutoFit/>
          </a:bodyPr>
          <a:lstStyle/>
          <a:p>
            <a:pPr algn="ctr" marL="0" indent="0" lvl="0">
              <a:lnSpc>
                <a:spcPts val="4752"/>
              </a:lnSpc>
              <a:spcBef>
                <a:spcPct val="0"/>
              </a:spcBef>
            </a:pPr>
            <a:r>
              <a:rPr lang="en-US" b="true" sz="3742">
                <a:solidFill>
                  <a:srgbClr val="0E2F5F"/>
                </a:solidFill>
                <a:latin typeface="Akzidenz-Grotesk Heavy"/>
                <a:ea typeface="Akzidenz-Grotesk Heavy"/>
                <a:cs typeface="Akzidenz-Grotesk Heavy"/>
                <a:sym typeface="Akzidenz-Grotesk Heavy"/>
              </a:rPr>
              <a:t> CHƯƠNG </a:t>
            </a:r>
            <a:r>
              <a:rPr lang="en-US" b="true" sz="3742" strike="noStrike" u="none">
                <a:solidFill>
                  <a:srgbClr val="0E2F5F"/>
                </a:solidFill>
                <a:latin typeface="Akzidenz-Grotesk Heavy"/>
                <a:ea typeface="Akzidenz-Grotesk Heavy"/>
                <a:cs typeface="Akzidenz-Grotesk Heavy"/>
                <a:sym typeface="Akzidenz-Grotesk Heavy"/>
              </a:rPr>
              <a:t>III. THIẾT KẾ HỆ THỐNG</a:t>
            </a:r>
          </a:p>
          <a:p>
            <a:pPr algn="r" marL="0" indent="0" lvl="0">
              <a:lnSpc>
                <a:spcPts val="4752"/>
              </a:lnSpc>
              <a:spcBef>
                <a:spcPct val="0"/>
              </a:spcBef>
            </a:pPr>
          </a:p>
        </p:txBody>
      </p:sp>
      <p:sp>
        <p:nvSpPr>
          <p:cNvPr name="TextBox 6" id="6"/>
          <p:cNvSpPr txBox="true"/>
          <p:nvPr/>
        </p:nvSpPr>
        <p:spPr>
          <a:xfrm rot="0">
            <a:off x="1259204" y="2604019"/>
            <a:ext cx="1242298"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Tour</a:t>
            </a:r>
          </a:p>
        </p:txBody>
      </p:sp>
      <p:sp>
        <p:nvSpPr>
          <p:cNvPr name="TextBox 7" id="7"/>
          <p:cNvSpPr txBox="true"/>
          <p:nvPr/>
        </p:nvSpPr>
        <p:spPr>
          <a:xfrm rot="0">
            <a:off x="9988001" y="2604019"/>
            <a:ext cx="2159556"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DonDatTour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22735" y="-1820550"/>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734772" y="3718034"/>
            <a:ext cx="8749011" cy="3579537"/>
          </a:xfrm>
          <a:custGeom>
            <a:avLst/>
            <a:gdLst/>
            <a:ahLst/>
            <a:cxnLst/>
            <a:rect r="r" b="b" t="t" l="l"/>
            <a:pathLst>
              <a:path h="3579537" w="8749011">
                <a:moveTo>
                  <a:pt x="0" y="0"/>
                </a:moveTo>
                <a:lnTo>
                  <a:pt x="8749011" y="0"/>
                </a:lnTo>
                <a:lnTo>
                  <a:pt x="8749011" y="3579537"/>
                </a:lnTo>
                <a:lnTo>
                  <a:pt x="0" y="3579537"/>
                </a:lnTo>
                <a:lnTo>
                  <a:pt x="0" y="0"/>
                </a:lnTo>
                <a:close/>
              </a:path>
            </a:pathLst>
          </a:custGeom>
          <a:blipFill>
            <a:blip r:embed="rId4"/>
            <a:stretch>
              <a:fillRect l="0" t="0" r="-3368" b="-8918"/>
            </a:stretch>
          </a:blipFill>
        </p:spPr>
      </p:sp>
      <p:sp>
        <p:nvSpPr>
          <p:cNvPr name="Freeform 4" id="4"/>
          <p:cNvSpPr/>
          <p:nvPr/>
        </p:nvSpPr>
        <p:spPr>
          <a:xfrm flipH="false" flipV="false" rot="0">
            <a:off x="829571" y="1970862"/>
            <a:ext cx="7205031" cy="3172638"/>
          </a:xfrm>
          <a:custGeom>
            <a:avLst/>
            <a:gdLst/>
            <a:ahLst/>
            <a:cxnLst/>
            <a:rect r="r" b="b" t="t" l="l"/>
            <a:pathLst>
              <a:path h="3172638" w="7205031">
                <a:moveTo>
                  <a:pt x="0" y="0"/>
                </a:moveTo>
                <a:lnTo>
                  <a:pt x="7205031" y="0"/>
                </a:lnTo>
                <a:lnTo>
                  <a:pt x="7205031" y="3172638"/>
                </a:lnTo>
                <a:lnTo>
                  <a:pt x="0" y="3172638"/>
                </a:lnTo>
                <a:lnTo>
                  <a:pt x="0" y="0"/>
                </a:lnTo>
                <a:close/>
              </a:path>
            </a:pathLst>
          </a:custGeom>
          <a:blipFill>
            <a:blip r:embed="rId5"/>
            <a:stretch>
              <a:fillRect l="0" t="0" r="-5825" b="0"/>
            </a:stretch>
          </a:blipFill>
        </p:spPr>
      </p:sp>
      <p:sp>
        <p:nvSpPr>
          <p:cNvPr name="Freeform 5" id="5"/>
          <p:cNvSpPr/>
          <p:nvPr/>
        </p:nvSpPr>
        <p:spPr>
          <a:xfrm flipH="false" flipV="false" rot="0">
            <a:off x="881529" y="6281072"/>
            <a:ext cx="7153073" cy="3377509"/>
          </a:xfrm>
          <a:custGeom>
            <a:avLst/>
            <a:gdLst/>
            <a:ahLst/>
            <a:cxnLst/>
            <a:rect r="r" b="b" t="t" l="l"/>
            <a:pathLst>
              <a:path h="3377509" w="7153073">
                <a:moveTo>
                  <a:pt x="0" y="0"/>
                </a:moveTo>
                <a:lnTo>
                  <a:pt x="7153073" y="0"/>
                </a:lnTo>
                <a:lnTo>
                  <a:pt x="7153073" y="3377509"/>
                </a:lnTo>
                <a:lnTo>
                  <a:pt x="0" y="3377509"/>
                </a:lnTo>
                <a:lnTo>
                  <a:pt x="0" y="0"/>
                </a:lnTo>
                <a:close/>
              </a:path>
            </a:pathLst>
          </a:custGeom>
          <a:blipFill>
            <a:blip r:embed="rId6"/>
            <a:stretch>
              <a:fillRect l="0" t="0" r="-944" b="-11996"/>
            </a:stretch>
          </a:blipFill>
        </p:spPr>
      </p:sp>
      <p:sp>
        <p:nvSpPr>
          <p:cNvPr name="TextBox 6" id="6"/>
          <p:cNvSpPr txBox="true"/>
          <p:nvPr/>
        </p:nvSpPr>
        <p:spPr>
          <a:xfrm rot="0">
            <a:off x="2942382" y="447262"/>
            <a:ext cx="12380353" cy="1262131"/>
          </a:xfrm>
          <a:prstGeom prst="rect">
            <a:avLst/>
          </a:prstGeom>
        </p:spPr>
        <p:txBody>
          <a:bodyPr anchor="t" rtlCol="false" tIns="0" lIns="0" bIns="0" rIns="0">
            <a:spAutoFit/>
          </a:bodyPr>
          <a:lstStyle/>
          <a:p>
            <a:pPr algn="ctr" marL="0" indent="0" lvl="0">
              <a:lnSpc>
                <a:spcPts val="4752"/>
              </a:lnSpc>
              <a:spcBef>
                <a:spcPct val="0"/>
              </a:spcBef>
            </a:pPr>
            <a:r>
              <a:rPr lang="en-US" b="true" sz="3742">
                <a:solidFill>
                  <a:srgbClr val="0E2F5F"/>
                </a:solidFill>
                <a:latin typeface="Akzidenz-Grotesk Heavy"/>
                <a:ea typeface="Akzidenz-Grotesk Heavy"/>
                <a:cs typeface="Akzidenz-Grotesk Heavy"/>
                <a:sym typeface="Akzidenz-Grotesk Heavy"/>
              </a:rPr>
              <a:t> CHƯƠNG </a:t>
            </a:r>
            <a:r>
              <a:rPr lang="en-US" b="true" sz="3742" strike="noStrike" u="none">
                <a:solidFill>
                  <a:srgbClr val="0E2F5F"/>
                </a:solidFill>
                <a:latin typeface="Akzidenz-Grotesk Heavy"/>
                <a:ea typeface="Akzidenz-Grotesk Heavy"/>
                <a:cs typeface="Akzidenz-Grotesk Heavy"/>
                <a:sym typeface="Akzidenz-Grotesk Heavy"/>
              </a:rPr>
              <a:t>III. THIẾT KẾ HỆ THỐNG</a:t>
            </a:r>
          </a:p>
          <a:p>
            <a:pPr algn="r" marL="0" indent="0" lvl="0">
              <a:lnSpc>
                <a:spcPts val="4752"/>
              </a:lnSpc>
              <a:spcBef>
                <a:spcPct val="0"/>
              </a:spcBef>
            </a:pPr>
          </a:p>
        </p:txBody>
      </p:sp>
      <p:sp>
        <p:nvSpPr>
          <p:cNvPr name="TextBox 7" id="7"/>
          <p:cNvSpPr txBox="true"/>
          <p:nvPr/>
        </p:nvSpPr>
        <p:spPr>
          <a:xfrm rot="0">
            <a:off x="9132559" y="3207933"/>
            <a:ext cx="1732478"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DanhGia</a:t>
            </a:r>
          </a:p>
        </p:txBody>
      </p:sp>
      <p:sp>
        <p:nvSpPr>
          <p:cNvPr name="TextBox 8" id="8"/>
          <p:cNvSpPr txBox="true"/>
          <p:nvPr/>
        </p:nvSpPr>
        <p:spPr>
          <a:xfrm rot="0">
            <a:off x="881529" y="1522070"/>
            <a:ext cx="2060853"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ThanhToan</a:t>
            </a:r>
          </a:p>
        </p:txBody>
      </p:sp>
      <p:sp>
        <p:nvSpPr>
          <p:cNvPr name="TextBox 9" id="9"/>
          <p:cNvSpPr txBox="true"/>
          <p:nvPr/>
        </p:nvSpPr>
        <p:spPr>
          <a:xfrm rot="0">
            <a:off x="1028700" y="5769899"/>
            <a:ext cx="2267069" cy="349248"/>
          </a:xfrm>
          <a:prstGeom prst="rect">
            <a:avLst/>
          </a:prstGeom>
        </p:spPr>
        <p:txBody>
          <a:bodyPr anchor="t" rtlCol="false" tIns="0" lIns="0" bIns="0" rIns="0">
            <a:spAutoFit/>
          </a:bodyPr>
          <a:lstStyle/>
          <a:p>
            <a:pPr algn="ctr">
              <a:lnSpc>
                <a:spcPts val="2800"/>
              </a:lnSpc>
              <a:spcBef>
                <a:spcPct val="0"/>
              </a:spcBef>
            </a:pPr>
            <a:r>
              <a:rPr lang="en-US" b="true" sz="2000">
                <a:solidFill>
                  <a:srgbClr val="0E2F5F"/>
                </a:solidFill>
                <a:latin typeface="Aileron Bold"/>
                <a:ea typeface="Aileron Bold"/>
                <a:cs typeface="Aileron Bold"/>
                <a:sym typeface="Aileron Bold"/>
              </a:rPr>
              <a:t>Bảng Yeucautuvan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22735" y="-1820550"/>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51270" y="2050387"/>
            <a:ext cx="9267733" cy="7055109"/>
          </a:xfrm>
          <a:custGeom>
            <a:avLst/>
            <a:gdLst/>
            <a:ahLst/>
            <a:cxnLst/>
            <a:rect r="r" b="b" t="t" l="l"/>
            <a:pathLst>
              <a:path h="7055109" w="9267733">
                <a:moveTo>
                  <a:pt x="0" y="0"/>
                </a:moveTo>
                <a:lnTo>
                  <a:pt x="9267733" y="0"/>
                </a:lnTo>
                <a:lnTo>
                  <a:pt x="9267733" y="7055109"/>
                </a:lnTo>
                <a:lnTo>
                  <a:pt x="0" y="7055109"/>
                </a:lnTo>
                <a:lnTo>
                  <a:pt x="0" y="0"/>
                </a:lnTo>
                <a:close/>
              </a:path>
            </a:pathLst>
          </a:custGeom>
          <a:blipFill>
            <a:blip r:embed="rId4"/>
            <a:stretch>
              <a:fillRect l="0" t="0" r="0" b="0"/>
            </a:stretch>
          </a:blipFill>
        </p:spPr>
      </p:sp>
      <p:sp>
        <p:nvSpPr>
          <p:cNvPr name="TextBox 4" id="4"/>
          <p:cNvSpPr txBox="true"/>
          <p:nvPr/>
        </p:nvSpPr>
        <p:spPr>
          <a:xfrm rot="0">
            <a:off x="-1874621" y="436260"/>
            <a:ext cx="12380353" cy="1262131"/>
          </a:xfrm>
          <a:prstGeom prst="rect">
            <a:avLst/>
          </a:prstGeom>
        </p:spPr>
        <p:txBody>
          <a:bodyPr anchor="t" rtlCol="false" tIns="0" lIns="0" bIns="0" rIns="0">
            <a:spAutoFit/>
          </a:bodyPr>
          <a:lstStyle/>
          <a:p>
            <a:pPr algn="ctr" marL="0" indent="0" lvl="0">
              <a:lnSpc>
                <a:spcPts val="4752"/>
              </a:lnSpc>
              <a:spcBef>
                <a:spcPct val="0"/>
              </a:spcBef>
            </a:pPr>
            <a:r>
              <a:rPr lang="en-US" b="true" sz="3742">
                <a:solidFill>
                  <a:srgbClr val="0E2F5F"/>
                </a:solidFill>
                <a:latin typeface="Akzidenz-Grotesk Heavy"/>
                <a:ea typeface="Akzidenz-Grotesk Heavy"/>
                <a:cs typeface="Akzidenz-Grotesk Heavy"/>
                <a:sym typeface="Akzidenz-Grotesk Heavy"/>
              </a:rPr>
              <a:t> CHƯƠNG </a:t>
            </a:r>
            <a:r>
              <a:rPr lang="en-US" b="true" sz="3742" strike="noStrike" u="none">
                <a:solidFill>
                  <a:srgbClr val="0E2F5F"/>
                </a:solidFill>
                <a:latin typeface="Akzidenz-Grotesk Heavy"/>
                <a:ea typeface="Akzidenz-Grotesk Heavy"/>
                <a:cs typeface="Akzidenz-Grotesk Heavy"/>
                <a:sym typeface="Akzidenz-Grotesk Heavy"/>
              </a:rPr>
              <a:t>III. THIẾT KẾ HỆ THỐNG</a:t>
            </a:r>
          </a:p>
          <a:p>
            <a:pPr algn="r" marL="0" indent="0" lvl="0">
              <a:lnSpc>
                <a:spcPts val="4752"/>
              </a:lnSpc>
              <a:spcBef>
                <a:spcPct val="0"/>
              </a:spcBef>
            </a:pPr>
          </a:p>
        </p:txBody>
      </p:sp>
      <p:sp>
        <p:nvSpPr>
          <p:cNvPr name="TextBox 5" id="5"/>
          <p:cNvSpPr txBox="true"/>
          <p:nvPr/>
        </p:nvSpPr>
        <p:spPr>
          <a:xfrm rot="0">
            <a:off x="853682" y="1823693"/>
            <a:ext cx="3254693" cy="405763"/>
          </a:xfrm>
          <a:prstGeom prst="rect">
            <a:avLst/>
          </a:prstGeom>
        </p:spPr>
        <p:txBody>
          <a:bodyPr anchor="t" rtlCol="false" tIns="0" lIns="0" bIns="0" rIns="0">
            <a:spAutoFit/>
          </a:bodyPr>
          <a:lstStyle/>
          <a:p>
            <a:pPr algn="ctr">
              <a:lnSpc>
                <a:spcPts val="3360"/>
              </a:lnSpc>
              <a:spcBef>
                <a:spcPct val="0"/>
              </a:spcBef>
            </a:pPr>
            <a:r>
              <a:rPr lang="en-US" b="true" sz="2400">
                <a:solidFill>
                  <a:srgbClr val="0E2F5F"/>
                </a:solidFill>
                <a:latin typeface="Aileron Bold"/>
                <a:ea typeface="Aileron Bold"/>
                <a:cs typeface="Aileron Bold"/>
                <a:sym typeface="Aileron Bold"/>
              </a:rPr>
              <a:t>Sơ đồ thực thể liên kết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76388" y="-1115149"/>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80939" y="1240816"/>
            <a:ext cx="1226460" cy="379088"/>
          </a:xfrm>
          <a:custGeom>
            <a:avLst/>
            <a:gdLst/>
            <a:ahLst/>
            <a:cxnLst/>
            <a:rect r="r" b="b" t="t" l="l"/>
            <a:pathLst>
              <a:path h="379088" w="1226460">
                <a:moveTo>
                  <a:pt x="0" y="0"/>
                </a:moveTo>
                <a:lnTo>
                  <a:pt x="1226460" y="0"/>
                </a:lnTo>
                <a:lnTo>
                  <a:pt x="1226460" y="379088"/>
                </a:lnTo>
                <a:lnTo>
                  <a:pt x="0" y="379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445921" y="635535"/>
            <a:ext cx="8095688" cy="1243457"/>
          </a:xfrm>
          <a:prstGeom prst="rect">
            <a:avLst/>
          </a:prstGeom>
        </p:spPr>
        <p:txBody>
          <a:bodyPr anchor="t" rtlCol="false" tIns="0" lIns="0" bIns="0" rIns="0">
            <a:spAutoFit/>
          </a:bodyPr>
          <a:lstStyle/>
          <a:p>
            <a:pPr algn="ctr" marL="0" indent="0" lvl="0">
              <a:lnSpc>
                <a:spcPts val="4699"/>
              </a:lnSpc>
              <a:spcBef>
                <a:spcPct val="0"/>
              </a:spcBef>
            </a:pPr>
            <a:r>
              <a:rPr lang="en-US" b="true" sz="3700">
                <a:solidFill>
                  <a:srgbClr val="0E2F5F"/>
                </a:solidFill>
                <a:latin typeface="Akzidenz-Grotesk Heavy"/>
                <a:ea typeface="Akzidenz-Grotesk Heavy"/>
                <a:cs typeface="Akzidenz-Grotesk Heavy"/>
                <a:sym typeface="Akzidenz-Grotesk Heavy"/>
              </a:rPr>
              <a:t>CHƯƠN</a:t>
            </a:r>
            <a:r>
              <a:rPr lang="en-US" b="true" sz="3700" strike="noStrike" u="none">
                <a:solidFill>
                  <a:srgbClr val="0E2F5F"/>
                </a:solidFill>
                <a:latin typeface="Akzidenz-Grotesk Heavy"/>
                <a:ea typeface="Akzidenz-Grotesk Heavy"/>
                <a:cs typeface="Akzidenz-Grotesk Heavy"/>
                <a:sym typeface="Akzidenz-Grotesk Heavy"/>
              </a:rPr>
              <a:t>G IV. CÀI ĐẶT VÀ KIỂM THỬ PHẦN MỀM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41357" y="64072"/>
            <a:ext cx="12407582" cy="1834007"/>
          </a:xfrm>
          <a:prstGeom prst="rect">
            <a:avLst/>
          </a:prstGeom>
        </p:spPr>
        <p:txBody>
          <a:bodyPr anchor="t" rtlCol="false" tIns="0" lIns="0" bIns="0" rIns="0">
            <a:spAutoFit/>
          </a:bodyPr>
          <a:lstStyle/>
          <a:p>
            <a:pPr algn="ctr" marL="0" indent="0" lvl="0">
              <a:lnSpc>
                <a:spcPts val="4699"/>
              </a:lnSpc>
              <a:spcBef>
                <a:spcPct val="0"/>
              </a:spcBef>
            </a:pPr>
          </a:p>
          <a:p>
            <a:pPr algn="ctr" marL="0" indent="0" lvl="0">
              <a:lnSpc>
                <a:spcPts val="4699"/>
              </a:lnSpc>
              <a:spcBef>
                <a:spcPct val="0"/>
              </a:spcBef>
            </a:pPr>
            <a:r>
              <a:rPr lang="en-US" b="true" sz="3700" strike="noStrike" u="none">
                <a:solidFill>
                  <a:srgbClr val="0E2F5F"/>
                </a:solidFill>
                <a:latin typeface="Akzidenz-Grotesk Heavy"/>
                <a:ea typeface="Akzidenz-Grotesk Heavy"/>
                <a:cs typeface="Akzidenz-Grotesk Heavy"/>
                <a:sym typeface="Akzidenz-Grotesk Heavy"/>
              </a:rPr>
              <a:t>CHƯƠNG VI. KẾT LUẬN VÀ HƯỚNG PHÁT TRIỂN HỆ THỐNG</a:t>
            </a:r>
          </a:p>
        </p:txBody>
      </p:sp>
      <p:sp>
        <p:nvSpPr>
          <p:cNvPr name="Freeform 3" id="3"/>
          <p:cNvSpPr/>
          <p:nvPr/>
        </p:nvSpPr>
        <p:spPr>
          <a:xfrm flipH="false" flipV="false" rot="0">
            <a:off x="-371317" y="-1848214"/>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149187"/>
            <a:ext cx="16230600" cy="6335642"/>
          </a:xfrm>
          <a:prstGeom prst="rect">
            <a:avLst/>
          </a:prstGeom>
        </p:spPr>
        <p:txBody>
          <a:bodyPr anchor="t" rtlCol="false" tIns="0" lIns="0" bIns="0" rIns="0">
            <a:spAutoFit/>
          </a:bodyPr>
          <a:lstStyle/>
          <a:p>
            <a:pPr algn="l">
              <a:lnSpc>
                <a:spcPts val="4623"/>
              </a:lnSpc>
            </a:pPr>
            <a:r>
              <a:rPr lang="en-US" b="true" sz="2300">
                <a:solidFill>
                  <a:srgbClr val="0E2F5F"/>
                </a:solidFill>
                <a:latin typeface="Aileron Bold"/>
                <a:ea typeface="Aileron Bold"/>
                <a:cs typeface="Aileron Bold"/>
                <a:sym typeface="Aileron Bold"/>
              </a:rPr>
              <a:t>• Kết luận:</a:t>
            </a:r>
          </a:p>
          <a:p>
            <a:pPr algn="l">
              <a:lnSpc>
                <a:spcPts val="4623"/>
              </a:lnSpc>
            </a:pPr>
            <a:r>
              <a:rPr lang="en-US" b="true" sz="2300">
                <a:solidFill>
                  <a:srgbClr val="0E2F5F"/>
                </a:solidFill>
                <a:latin typeface="Aileron Bold"/>
                <a:ea typeface="Aileron Bold"/>
                <a:cs typeface="Aileron Bold"/>
                <a:sym typeface="Aileron Bold"/>
              </a:rPr>
              <a:t> Hệ thống TourVietPlus đã hoàn thiện các chức năng cốt lõi như tìm kiếm, xem chi tiết, đặt tour và thanh toán. Phần quản trị hỗ trợ quản lý tour, khách hàng, doanh thu và thống kê hiệu quả. Kiến trúc hệ thống rõ ràng, dễ mở rộng; giao diện thân thiện, hiện đại và phù hợp cho cả người dùng lẫn quản trị viên.</a:t>
            </a:r>
          </a:p>
          <a:p>
            <a:pPr algn="l">
              <a:lnSpc>
                <a:spcPts val="4623"/>
              </a:lnSpc>
            </a:pPr>
            <a:r>
              <a:rPr lang="en-US" b="true" sz="2300">
                <a:solidFill>
                  <a:srgbClr val="0E2F5F"/>
                </a:solidFill>
                <a:latin typeface="Aileron Bold"/>
                <a:ea typeface="Aileron Bold"/>
                <a:cs typeface="Aileron Bold"/>
                <a:sym typeface="Aileron Bold"/>
              </a:rPr>
              <a:t>• Hạn chế &amp; Hướng phát triển:</a:t>
            </a:r>
          </a:p>
          <a:p>
            <a:pPr algn="l">
              <a:lnSpc>
                <a:spcPts val="4623"/>
              </a:lnSpc>
            </a:pPr>
            <a:r>
              <a:rPr lang="en-US" b="true" sz="2300">
                <a:solidFill>
                  <a:srgbClr val="0E2F5F"/>
                </a:solidFill>
                <a:latin typeface="Aileron Bold"/>
                <a:ea typeface="Aileron Bold"/>
                <a:cs typeface="Aileron Bold"/>
                <a:sym typeface="Aileron Bold"/>
              </a:rPr>
              <a:t>Tích hợp tính năng tìm tour theo xu hướng (dựa trên lượt xem, lượt đặt).</a:t>
            </a:r>
          </a:p>
          <a:p>
            <a:pPr algn="l">
              <a:lnSpc>
                <a:spcPts val="4623"/>
              </a:lnSpc>
            </a:pPr>
            <a:r>
              <a:rPr lang="en-US" b="true" sz="2300">
                <a:solidFill>
                  <a:srgbClr val="0E2F5F"/>
                </a:solidFill>
                <a:latin typeface="Aileron Bold"/>
                <a:ea typeface="Aileron Bold"/>
                <a:cs typeface="Aileron Bold"/>
                <a:sym typeface="Aileron Bold"/>
              </a:rPr>
              <a:t>Phát triển gợi ý tour liên quan bằng thuật toán recommendation để cá nhân hóa trải nghiệm.</a:t>
            </a:r>
          </a:p>
          <a:p>
            <a:pPr algn="l">
              <a:lnSpc>
                <a:spcPts val="4623"/>
              </a:lnSpc>
            </a:pPr>
            <a:r>
              <a:rPr lang="en-US" b="true" sz="2300">
                <a:solidFill>
                  <a:srgbClr val="0E2F5F"/>
                </a:solidFill>
                <a:latin typeface="Aileron Bold"/>
                <a:ea typeface="Aileron Bold"/>
                <a:cs typeface="Aileron Bold"/>
                <a:sym typeface="Aileron Bold"/>
              </a:rPr>
              <a:t>Xây dựng module khảo sát &amp; phân tích dữ liệu khách hàng để phục vụ marketing và thiết kế tour tối ưu.</a:t>
            </a:r>
          </a:p>
          <a:p>
            <a:pPr algn="l">
              <a:lnSpc>
                <a:spcPts val="4623"/>
              </a:lnSpc>
            </a:pPr>
            <a:r>
              <a:rPr lang="en-US" b="true" sz="2300">
                <a:solidFill>
                  <a:srgbClr val="0E2F5F"/>
                </a:solidFill>
                <a:latin typeface="Aileron Bold"/>
                <a:ea typeface="Aileron Bold"/>
                <a:cs typeface="Aileron Bold"/>
                <a:sym typeface="Aileron Bold"/>
              </a:rPr>
              <a:t>Bổ sung thông báo thông minh, chatbot hỗ trợ, thêm nhiều cổng thanh toán.</a:t>
            </a:r>
          </a:p>
          <a:p>
            <a:pPr algn="l">
              <a:lnSpc>
                <a:spcPts val="4623"/>
              </a:lnSpc>
            </a:pPr>
            <a:r>
              <a:rPr lang="en-US" b="true" sz="2300">
                <a:solidFill>
                  <a:srgbClr val="0E2F5F"/>
                </a:solidFill>
                <a:latin typeface="Aileron Bold"/>
                <a:ea typeface="Aileron Bold"/>
                <a:cs typeface="Aileron Bold"/>
                <a:sym typeface="Aileron Bold"/>
              </a:rPr>
              <a:t>Phát triển ứng dụng di động và hệ thống đánh giá – phản hồi tour.</a:t>
            </a:r>
          </a:p>
          <a:p>
            <a:pPr algn="l">
              <a:lnSpc>
                <a:spcPts val="4623"/>
              </a:lnSpc>
            </a:pPr>
            <a:r>
              <a:rPr lang="en-US" b="true" sz="2300">
                <a:solidFill>
                  <a:srgbClr val="0E2F5F"/>
                </a:solidFill>
                <a:latin typeface="Aileron Bold"/>
                <a:ea typeface="Aileron Bold"/>
                <a:cs typeface="Aileron Bold"/>
                <a:sym typeface="Aileron Bold"/>
              </a:rPr>
              <a:t>Tăng cường bảo mật, hiệu năng và khả năng chịu tải khi hệ thống mở rộng quy mô.</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64766" y="4408800"/>
            <a:ext cx="15358467" cy="734700"/>
          </a:xfrm>
          <a:prstGeom prst="rect">
            <a:avLst/>
          </a:prstGeom>
        </p:spPr>
        <p:txBody>
          <a:bodyPr anchor="t" rtlCol="false" tIns="0" lIns="0" bIns="0" rIns="0">
            <a:spAutoFit/>
          </a:bodyPr>
          <a:lstStyle/>
          <a:p>
            <a:pPr algn="ctr">
              <a:lnSpc>
                <a:spcPts val="5260"/>
              </a:lnSpc>
              <a:spcBef>
                <a:spcPct val="0"/>
              </a:spcBef>
            </a:pPr>
            <a:r>
              <a:rPr lang="en-US" b="true" sz="4142">
                <a:solidFill>
                  <a:srgbClr val="000000"/>
                </a:solidFill>
                <a:latin typeface="Akzidenz-Grotesk Heavy"/>
                <a:ea typeface="Akzidenz-Grotesk Heavy"/>
                <a:cs typeface="Akzidenz-Grotesk Heavy"/>
                <a:sym typeface="Akzidenz-Grotesk Heavy"/>
              </a:rPr>
              <a:t>CẢM ƠN CÔ ĐÃ LẮNG NGHE BÀI THUYẾT TRÌNH CỦA 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DAG53pFaM3I</dc:identifier>
  <dcterms:modified xsi:type="dcterms:W3CDTF">2011-08-01T06:04:30Z</dcterms:modified>
  <cp:revision>1</cp:revision>
  <dc:title>Blue and White Simple The Future Of The Arctic Presentation</dc:title>
</cp:coreProperties>
</file>