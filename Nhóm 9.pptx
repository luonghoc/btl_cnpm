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Aileron Bold" panose="020B0604020202020204" charset="0"/>
      <p:regular r:id="rId25"/>
    </p:embeddedFont>
    <p:embeddedFont>
      <p:font typeface="Akzidenz-Grotesk Heavy" panose="020B0604020202020204" charset="0"/>
      <p:regular r:id="rId26"/>
    </p:embeddedFont>
    <p:embeddedFont>
      <p:font typeface="Barlow Condensed Heavy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sv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36521" y="3307946"/>
            <a:ext cx="2594369" cy="4588246"/>
            <a:chOff x="0" y="0"/>
            <a:chExt cx="683291" cy="12084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3291" cy="1208427"/>
            </a:xfrm>
            <a:custGeom>
              <a:avLst/>
              <a:gdLst/>
              <a:ahLst/>
              <a:cxnLst/>
              <a:rect l="l" t="t" r="r" b="b"/>
              <a:pathLst>
                <a:path w="683291" h="1208427">
                  <a:moveTo>
                    <a:pt x="152190" y="0"/>
                  </a:moveTo>
                  <a:lnTo>
                    <a:pt x="531100" y="0"/>
                  </a:lnTo>
                  <a:cubicBezTo>
                    <a:pt x="571464" y="0"/>
                    <a:pt x="610174" y="16034"/>
                    <a:pt x="638715" y="44576"/>
                  </a:cubicBezTo>
                  <a:cubicBezTo>
                    <a:pt x="667256" y="73117"/>
                    <a:pt x="683291" y="111827"/>
                    <a:pt x="683291" y="152190"/>
                  </a:cubicBezTo>
                  <a:lnTo>
                    <a:pt x="683291" y="1056237"/>
                  </a:lnTo>
                  <a:cubicBezTo>
                    <a:pt x="683291" y="1096600"/>
                    <a:pt x="667256" y="1135310"/>
                    <a:pt x="638715" y="1163852"/>
                  </a:cubicBezTo>
                  <a:cubicBezTo>
                    <a:pt x="610174" y="1192393"/>
                    <a:pt x="571464" y="1208427"/>
                    <a:pt x="531100" y="1208427"/>
                  </a:cubicBezTo>
                  <a:lnTo>
                    <a:pt x="152190" y="1208427"/>
                  </a:lnTo>
                  <a:cubicBezTo>
                    <a:pt x="111827" y="1208427"/>
                    <a:pt x="73117" y="1192393"/>
                    <a:pt x="44576" y="1163852"/>
                  </a:cubicBezTo>
                  <a:cubicBezTo>
                    <a:pt x="16034" y="1135310"/>
                    <a:pt x="0" y="1096600"/>
                    <a:pt x="0" y="1056237"/>
                  </a:cubicBezTo>
                  <a:lnTo>
                    <a:pt x="0" y="152190"/>
                  </a:lnTo>
                  <a:cubicBezTo>
                    <a:pt x="0" y="111827"/>
                    <a:pt x="16034" y="73117"/>
                    <a:pt x="44576" y="44576"/>
                  </a:cubicBezTo>
                  <a:cubicBezTo>
                    <a:pt x="73117" y="16034"/>
                    <a:pt x="111827" y="0"/>
                    <a:pt x="15219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83291" cy="1256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-252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843805" y="82486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12807" y="8799767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00946" y="4102665"/>
            <a:ext cx="7587054" cy="3793527"/>
          </a:xfrm>
          <a:custGeom>
            <a:avLst/>
            <a:gdLst/>
            <a:ahLst/>
            <a:cxnLst/>
            <a:rect l="l" t="t" r="r" b="b"/>
            <a:pathLst>
              <a:path w="7587054" h="3793527">
                <a:moveTo>
                  <a:pt x="0" y="0"/>
                </a:moveTo>
                <a:lnTo>
                  <a:pt x="7587054" y="0"/>
                </a:lnTo>
                <a:lnTo>
                  <a:pt x="7587054" y="3793527"/>
                </a:lnTo>
                <a:lnTo>
                  <a:pt x="0" y="3793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76688" y="1387640"/>
            <a:ext cx="9734623" cy="1663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64"/>
              </a:lnSpc>
            </a:pPr>
            <a:r>
              <a:rPr lang="en-US" sz="12198" b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THUYẾT TRÌNH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86005" y="3736340"/>
            <a:ext cx="7315200" cy="140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0"/>
              </a:lnSpc>
            </a:pPr>
            <a:r>
              <a:rPr lang="en-US" sz="4000" b="1">
                <a:solidFill>
                  <a:srgbClr val="021828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Xây dựng hệ thống đặt tour du lịch online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2807" y="6223237"/>
            <a:ext cx="4660414" cy="1449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99"/>
              </a:lnSpc>
            </a:pPr>
            <a:r>
              <a:rPr lang="en-US" sz="278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Thành viên: Lương Văn Học</a:t>
            </a:r>
          </a:p>
          <a:p>
            <a:pPr algn="r">
              <a:lnSpc>
                <a:spcPts val="3899"/>
              </a:lnSpc>
            </a:pPr>
            <a:r>
              <a:rPr lang="en-US" sz="278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Hoàng Đức Hội</a:t>
            </a:r>
          </a:p>
          <a:p>
            <a:pPr algn="r">
              <a:lnSpc>
                <a:spcPts val="3899"/>
              </a:lnSpc>
            </a:pPr>
            <a:r>
              <a:rPr lang="en-US" sz="278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Nguyễn Văn Hoan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34028" y="6733028"/>
            <a:ext cx="5050544" cy="5050544"/>
          </a:xfrm>
          <a:custGeom>
            <a:avLst/>
            <a:gdLst/>
            <a:ahLst/>
            <a:cxnLst/>
            <a:rect l="l" t="t" r="r" b="b"/>
            <a:pathLst>
              <a:path w="5050544" h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19510" y="580162"/>
            <a:ext cx="1858734" cy="185873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48858" y="1060991"/>
            <a:ext cx="600038" cy="897076"/>
          </a:xfrm>
          <a:custGeom>
            <a:avLst/>
            <a:gdLst/>
            <a:ahLst/>
            <a:cxnLst/>
            <a:rect l="l" t="t" r="r" b="b"/>
            <a:pathLst>
              <a:path w="600038" h="897076">
                <a:moveTo>
                  <a:pt x="0" y="0"/>
                </a:moveTo>
                <a:lnTo>
                  <a:pt x="600039" y="0"/>
                </a:lnTo>
                <a:lnTo>
                  <a:pt x="600039" y="897076"/>
                </a:lnTo>
                <a:lnTo>
                  <a:pt x="0" y="897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1288" y="3114592"/>
            <a:ext cx="10257204" cy="114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94"/>
              </a:lnSpc>
            </a:pPr>
            <a:r>
              <a:rPr lang="en-US" sz="3282" b="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CHƯƠNG I. KHẢO SÁT HIỆN TRẠNG CỦA HỆ THỐNG</a:t>
            </a:r>
          </a:p>
          <a:p>
            <a:pPr algn="just">
              <a:lnSpc>
                <a:spcPts val="4594"/>
              </a:lnSpc>
            </a:pPr>
            <a:endParaRPr lang="en-US" sz="3282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39017" y="857250"/>
            <a:ext cx="4904983" cy="108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5999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MỤC LỤC</a:t>
            </a:r>
          </a:p>
        </p:txBody>
      </p:sp>
      <p:sp>
        <p:nvSpPr>
          <p:cNvPr id="9" name="Freeform 9"/>
          <p:cNvSpPr/>
          <p:nvPr/>
        </p:nvSpPr>
        <p:spPr>
          <a:xfrm>
            <a:off x="16264511" y="5348601"/>
            <a:ext cx="1025128" cy="1025128"/>
          </a:xfrm>
          <a:custGeom>
            <a:avLst/>
            <a:gdLst/>
            <a:ahLst/>
            <a:cxnLst/>
            <a:rect l="l" t="t" r="r" b="b"/>
            <a:pathLst>
              <a:path w="1025128" h="1025128">
                <a:moveTo>
                  <a:pt x="0" y="0"/>
                </a:moveTo>
                <a:lnTo>
                  <a:pt x="1025128" y="0"/>
                </a:lnTo>
                <a:lnTo>
                  <a:pt x="1025128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91288" y="4537483"/>
            <a:ext cx="10257204" cy="114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94"/>
              </a:lnSpc>
            </a:pPr>
            <a:r>
              <a:rPr lang="en-US" sz="3282" b="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CHƯƠNG II. PHÂN TÍCH HỆ THỐNG</a:t>
            </a:r>
          </a:p>
          <a:p>
            <a:pPr algn="just">
              <a:lnSpc>
                <a:spcPts val="4594"/>
              </a:lnSpc>
            </a:pPr>
            <a:endParaRPr lang="en-US" sz="3282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91288" y="5959067"/>
            <a:ext cx="10257204" cy="56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94"/>
              </a:lnSpc>
            </a:pPr>
            <a:r>
              <a:rPr lang="en-US" sz="3282" b="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CHƯƠNG III. THIẾT KẾ HỆ THỐNG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1288" y="7327240"/>
            <a:ext cx="10257204" cy="56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94"/>
              </a:lnSpc>
            </a:pPr>
            <a:r>
              <a:rPr lang="en-US" sz="3282" b="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CHƯƠNG IV. CÀI ĐẶT VÀ KIỂM THỬ PHẦN MỀM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1288" y="8695413"/>
            <a:ext cx="10257204" cy="56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94"/>
              </a:lnSpc>
            </a:pPr>
            <a:r>
              <a:rPr lang="en-US" sz="3282" b="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CHƯƠNG V. NHẬN XÉT VÀ ĐÁNH GIÁ HỆ THỐNG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64196" y="3122675"/>
            <a:ext cx="4829892" cy="5894830"/>
            <a:chOff x="0" y="0"/>
            <a:chExt cx="1272070" cy="1552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2070" cy="1552548"/>
            </a:xfrm>
            <a:custGeom>
              <a:avLst/>
              <a:gdLst/>
              <a:ahLst/>
              <a:cxnLst/>
              <a:rect l="l" t="t" r="r" b="b"/>
              <a:pathLst>
                <a:path w="1272070" h="1552548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8620" y="375793"/>
            <a:ext cx="12613005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9"/>
              </a:lnSpc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 I. KHẢO SÁT HIỆN TRẠNG CỦA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84315"/>
            <a:ext cx="11871701" cy="693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r>
              <a:rPr lang="en-US" sz="2474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Doanh nghiệp du lịch vẫn quản lý tour, khách hàng, đơn đặt bằng sổ sách hoặc Excel.</a:t>
            </a:r>
          </a:p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r>
              <a:rPr lang="en-US" sz="2474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Thông tin tour không cập nhật đồng bộ: giá, lịch trình, số chỗ còn lại không rõ ràng.</a:t>
            </a:r>
          </a:p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r>
              <a:rPr lang="en-US" sz="2474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Quy trình đặt tour phụ thuộc liên hệ trực tiếp/điện thoại, mất thời gian, dễ sai sót.</a:t>
            </a:r>
          </a:p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r>
              <a:rPr lang="en-US" sz="2474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Thanh toán thủ công, không hỗ trợ theo dõi trạng thái tự động.</a:t>
            </a:r>
          </a:p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r>
              <a:rPr lang="en-US" sz="2474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Thiếu phản hồi khách hàng, không có hệ thống chăm sóc và thông báo tự động.</a:t>
            </a:r>
          </a:p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r>
              <a:rPr lang="en-US" sz="2474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Không có công cụ thống kê – phân tích dữ liệu để hỗ trợ quản lý, dự báo nhu cầu.</a:t>
            </a:r>
          </a:p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r>
              <a:rPr lang="en-US" sz="2474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Quy trình hiện tại rời rạc, thiếu minh bạch, khó quản lý, không phù hợp xu hướng số hóa.</a:t>
            </a:r>
          </a:p>
          <a:p>
            <a:pPr marL="1068565" lvl="2" indent="-356188" algn="l">
              <a:lnSpc>
                <a:spcPts val="3984"/>
              </a:lnSpc>
              <a:spcBef>
                <a:spcPct val="0"/>
              </a:spcBef>
              <a:buFont typeface="Arial"/>
              <a:buChar char="⚬"/>
            </a:pPr>
            <a:endParaRPr lang="en-US" sz="2474" b="1" u="none" strike="noStrike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4848550" y="1944578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7"/>
                </a:lnTo>
                <a:lnTo>
                  <a:pt x="0" y="379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98985" y="1028700"/>
            <a:ext cx="960315" cy="960315"/>
          </a:xfrm>
          <a:custGeom>
            <a:avLst/>
            <a:gdLst/>
            <a:ahLst/>
            <a:cxnLst/>
            <a:rect l="l" t="t" r="r" b="b"/>
            <a:pathLst>
              <a:path w="960315" h="960315">
                <a:moveTo>
                  <a:pt x="0" y="0"/>
                </a:moveTo>
                <a:lnTo>
                  <a:pt x="960315" y="0"/>
                </a:lnTo>
                <a:lnTo>
                  <a:pt x="960315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48620" y="1532272"/>
            <a:ext cx="3681770" cy="456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sz="2386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THỰC TRẠNG VÀ VẤN ĐỀ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64196" y="3122675"/>
            <a:ext cx="4829892" cy="5894830"/>
            <a:chOff x="0" y="0"/>
            <a:chExt cx="1272070" cy="1552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2070" cy="1552548"/>
            </a:xfrm>
            <a:custGeom>
              <a:avLst/>
              <a:gdLst/>
              <a:ahLst/>
              <a:cxnLst/>
              <a:rect l="l" t="t" r="r" b="b"/>
              <a:pathLst>
                <a:path w="1272070" h="1552548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71130" y="654622"/>
            <a:ext cx="12613005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9"/>
              </a:lnSpc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 I. KHẢO SÁT HIỆN TRẠNG CỦA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66179" y="2406559"/>
            <a:ext cx="11812768" cy="651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  <a:spcBef>
                <a:spcPct val="0"/>
              </a:spcBef>
            </a:pPr>
            <a:endParaRPr/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Xây dựng hệ thống đặt tour trực tuyến thay thế quy trình thủ công.</a:t>
            </a:r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Quản lý tour tập trung, thông tin cập nhật thời gian thực (giá, lịch trình, số chỗ).</a:t>
            </a:r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Hỗ trợ khách hàng tìm kiếm – xem chi tiết – đặt tour – thanh toán online.</a:t>
            </a:r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Tự động hóa quản lý khách hàng, đơn đặt, trạng thái thanh toán và xuất hóa đơn.</a:t>
            </a:r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Tích hợp mã giảm giá, ưu đãi, thông báo tự động cho khách hàng.</a:t>
            </a:r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Cung cấp thống kê – báo cáo doanh thu, lượng khách, hiệu quả tour.</a:t>
            </a:r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Đảm bảo bảo mật dữ liệu, phân quyền người dùng (admin, nhân viên, khách).</a:t>
            </a:r>
          </a:p>
          <a:p>
            <a:pPr marL="1066680" lvl="2" indent="-355560" algn="l">
              <a:lnSpc>
                <a:spcPts val="3977"/>
              </a:lnSpc>
              <a:spcBef>
                <a:spcPct val="0"/>
              </a:spcBef>
              <a:buFont typeface="Arial"/>
              <a:buChar char="⚬"/>
            </a:pPr>
            <a:r>
              <a:rPr lang="en-US" sz="2470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Giao diện dễ sử dụng, hoạt động tốt trên nhiều thiết bị, dễ mở rộng khi cần.</a:t>
            </a:r>
          </a:p>
        </p:txBody>
      </p:sp>
      <p:sp>
        <p:nvSpPr>
          <p:cNvPr id="7" name="Freeform 7"/>
          <p:cNvSpPr/>
          <p:nvPr/>
        </p:nvSpPr>
        <p:spPr>
          <a:xfrm>
            <a:off x="14848550" y="1944578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7"/>
                </a:lnTo>
                <a:lnTo>
                  <a:pt x="0" y="379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98985" y="1028700"/>
            <a:ext cx="960315" cy="960315"/>
          </a:xfrm>
          <a:custGeom>
            <a:avLst/>
            <a:gdLst/>
            <a:ahLst/>
            <a:cxnLst/>
            <a:rect l="l" t="t" r="r" b="b"/>
            <a:pathLst>
              <a:path w="960315" h="960315">
                <a:moveTo>
                  <a:pt x="0" y="0"/>
                </a:moveTo>
                <a:lnTo>
                  <a:pt x="960315" y="0"/>
                </a:lnTo>
                <a:lnTo>
                  <a:pt x="960315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031222"/>
            <a:ext cx="5808345" cy="480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  <a:spcBef>
                <a:spcPct val="0"/>
              </a:spcBef>
            </a:pPr>
            <a:r>
              <a:rPr lang="en-US" sz="2486" b="1" u="none" strike="noStrik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GIẢI PHÁP VÀ YÊU CẦU HỆ THỐNG MỚI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16457" y="3531105"/>
            <a:ext cx="8271543" cy="4466633"/>
          </a:xfrm>
          <a:custGeom>
            <a:avLst/>
            <a:gdLst/>
            <a:ahLst/>
            <a:cxnLst/>
            <a:rect l="l" t="t" r="r" b="b"/>
            <a:pathLst>
              <a:path w="8271543" h="4466633">
                <a:moveTo>
                  <a:pt x="0" y="0"/>
                </a:moveTo>
                <a:lnTo>
                  <a:pt x="8271543" y="0"/>
                </a:lnTo>
                <a:lnTo>
                  <a:pt x="8271543" y="4466633"/>
                </a:lnTo>
                <a:lnTo>
                  <a:pt x="0" y="446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66160" y="613532"/>
            <a:ext cx="12056189" cy="71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80"/>
              </a:lnSpc>
              <a:spcBef>
                <a:spcPct val="0"/>
              </a:spcBef>
            </a:pPr>
            <a:r>
              <a:rPr lang="en-US" sz="40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40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0241" y="1799079"/>
            <a:ext cx="9144000" cy="802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545" lvl="1" indent="-225273" algn="l">
              <a:lnSpc>
                <a:spcPts val="3359"/>
              </a:lnSpc>
              <a:buFont typeface="Arial"/>
              <a:buChar char="•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Đặt tour truyền thống còn bất tiện → cần hệ thống online để tìm kiếm – so sánh – đặt tour – thanh toán nhanh và minh bạch.</a:t>
            </a:r>
          </a:p>
          <a:p>
            <a:pPr marL="450545" lvl="1" indent="-225273" algn="l">
              <a:lnSpc>
                <a:spcPts val="3359"/>
              </a:lnSpc>
              <a:buFont typeface="Arial"/>
              <a:buChar char="•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 thống cho khách hàng: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Đăng ký/đăng nhập, quản lý tài khoản.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Tìm kiếm tour theo nhiều tiêu chí, xem chi tiết.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Đặt tour, kiểm tra chỗ trống, thanh toán trực tuyến.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Theo dõi trạng thái đơn, hủy/đổi tour, nhận thông báo email/SMS.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Gửi đánh giá sau khi sử dụng tour.</a:t>
            </a:r>
          </a:p>
          <a:p>
            <a:pPr marL="450545" lvl="1" indent="-225273" algn="l">
              <a:lnSpc>
                <a:spcPts val="3359"/>
              </a:lnSpc>
              <a:buFont typeface="Arial"/>
              <a:buChar char="•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 thống cho quản trị viên: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Quản lý tour, khách hàng, đơn đặt, thanh toán.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Cập nhật tour, khuyến mãi; thống kê – báo cáo doanh thu.</a:t>
            </a:r>
          </a:p>
          <a:p>
            <a:pPr marL="450545" lvl="1" indent="-225273" algn="l">
              <a:lnSpc>
                <a:spcPts val="3359"/>
              </a:lnSpc>
              <a:buFont typeface="Arial"/>
              <a:buChar char="•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Yêu cầu phi chức năng: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Hoạt động ổn định 24/7, xử lý nhanh, chịu tải cao.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Giao diện thân thiện, hỗ trợ mobile.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Bảo mật cao: mã hóa dữ liệu, an toàn thanh toán.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Lưu trữ lâu dài, truy xuất dữ liệu tốt.</a:t>
            </a:r>
          </a:p>
          <a:p>
            <a:pPr marL="901091" lvl="2" indent="-300364" algn="l">
              <a:lnSpc>
                <a:spcPts val="3359"/>
              </a:lnSpc>
              <a:buFont typeface="Arial"/>
              <a:buChar char="⚬"/>
            </a:pPr>
            <a:r>
              <a:rPr lang="en-US" sz="2086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 thống dễ mở rộng, bảo trì, tích hợp với email/SMS/cổng thanh toán.</a:t>
            </a:r>
          </a:p>
          <a:p>
            <a:pPr algn="l">
              <a:lnSpc>
                <a:spcPts val="3359"/>
              </a:lnSpc>
            </a:pPr>
            <a:endParaRPr lang="en-US" sz="2086" b="1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29595" y="2823173"/>
            <a:ext cx="12405613" cy="6592697"/>
          </a:xfrm>
          <a:custGeom>
            <a:avLst/>
            <a:gdLst/>
            <a:ahLst/>
            <a:cxnLst/>
            <a:rect l="l" t="t" r="r" b="b"/>
            <a:pathLst>
              <a:path w="12405613" h="6592697">
                <a:moveTo>
                  <a:pt x="0" y="0"/>
                </a:moveTo>
                <a:lnTo>
                  <a:pt x="12405613" y="0"/>
                </a:lnTo>
                <a:lnTo>
                  <a:pt x="12405613" y="6592697"/>
                </a:lnTo>
                <a:lnTo>
                  <a:pt x="0" y="659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8990" y="1686368"/>
            <a:ext cx="3450788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Biểu đồ vào - ra của hệ thống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16215" y="1884804"/>
            <a:ext cx="12311208" cy="8011523"/>
          </a:xfrm>
          <a:custGeom>
            <a:avLst/>
            <a:gdLst/>
            <a:ahLst/>
            <a:cxnLst/>
            <a:rect l="l" t="t" r="r" b="b"/>
            <a:pathLst>
              <a:path w="12311208" h="8011523">
                <a:moveTo>
                  <a:pt x="0" y="0"/>
                </a:moveTo>
                <a:lnTo>
                  <a:pt x="12311208" y="0"/>
                </a:lnTo>
                <a:lnTo>
                  <a:pt x="12311208" y="8011523"/>
                </a:lnTo>
                <a:lnTo>
                  <a:pt x="0" y="8011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4560" y="1837179"/>
            <a:ext cx="3232840" cy="82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Biểu đồ usecase chính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endParaRPr lang="en-US" sz="2400" b="1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692306"/>
            <a:ext cx="8561745" cy="6901573"/>
          </a:xfrm>
          <a:custGeom>
            <a:avLst/>
            <a:gdLst/>
            <a:ahLst/>
            <a:cxnLst/>
            <a:rect l="l" t="t" r="r" b="b"/>
            <a:pathLst>
              <a:path w="8561745" h="6901573">
                <a:moveTo>
                  <a:pt x="0" y="0"/>
                </a:moveTo>
                <a:lnTo>
                  <a:pt x="8561745" y="0"/>
                </a:lnTo>
                <a:lnTo>
                  <a:pt x="8561745" y="6901573"/>
                </a:lnTo>
                <a:lnTo>
                  <a:pt x="0" y="690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1367" y="1996248"/>
            <a:ext cx="4049078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Usecase đăng kí, đăng nhập</a:t>
            </a:r>
          </a:p>
        </p:txBody>
      </p:sp>
      <p:sp>
        <p:nvSpPr>
          <p:cNvPr id="6" name="Freeform 6"/>
          <p:cNvSpPr/>
          <p:nvPr/>
        </p:nvSpPr>
        <p:spPr>
          <a:xfrm>
            <a:off x="8580795" y="3413494"/>
            <a:ext cx="9726255" cy="6024887"/>
          </a:xfrm>
          <a:custGeom>
            <a:avLst/>
            <a:gdLst/>
            <a:ahLst/>
            <a:cxnLst/>
            <a:rect l="l" t="t" r="r" b="b"/>
            <a:pathLst>
              <a:path w="9726255" h="6024887">
                <a:moveTo>
                  <a:pt x="0" y="0"/>
                </a:moveTo>
                <a:lnTo>
                  <a:pt x="9726255" y="0"/>
                </a:lnTo>
                <a:lnTo>
                  <a:pt x="9726255" y="6024886"/>
                </a:lnTo>
                <a:lnTo>
                  <a:pt x="0" y="6024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183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568215" y="1996248"/>
            <a:ext cx="3412920" cy="807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 đặt tour,thanh toán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endParaRPr lang="en-US" sz="2300" b="1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37809" y="1713521"/>
            <a:ext cx="10834202" cy="7831762"/>
          </a:xfrm>
          <a:custGeom>
            <a:avLst/>
            <a:gdLst/>
            <a:ahLst/>
            <a:cxnLst/>
            <a:rect l="l" t="t" r="r" b="b"/>
            <a:pathLst>
              <a:path w="10834202" h="7831762">
                <a:moveTo>
                  <a:pt x="0" y="0"/>
                </a:moveTo>
                <a:lnTo>
                  <a:pt x="10834202" y="0"/>
                </a:lnTo>
                <a:lnTo>
                  <a:pt x="10834202" y="7831763"/>
                </a:lnTo>
                <a:lnTo>
                  <a:pt x="0" y="7831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2084" y="1837179"/>
            <a:ext cx="2518291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Usecase tìm kiếm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70616"/>
            <a:ext cx="9552404" cy="6773970"/>
          </a:xfrm>
          <a:custGeom>
            <a:avLst/>
            <a:gdLst/>
            <a:ahLst/>
            <a:cxnLst/>
            <a:rect l="l" t="t" r="r" b="b"/>
            <a:pathLst>
              <a:path w="9552404" h="6773970">
                <a:moveTo>
                  <a:pt x="0" y="0"/>
                </a:moveTo>
                <a:lnTo>
                  <a:pt x="9552404" y="0"/>
                </a:lnTo>
                <a:lnTo>
                  <a:pt x="9552404" y="6773970"/>
                </a:lnTo>
                <a:lnTo>
                  <a:pt x="0" y="6773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2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97381" y="1623308"/>
            <a:ext cx="3773081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endParaRPr/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Usecase đánh giá nhận xét</a:t>
            </a:r>
          </a:p>
        </p:txBody>
      </p:sp>
      <p:sp>
        <p:nvSpPr>
          <p:cNvPr id="5" name="Freeform 5"/>
          <p:cNvSpPr/>
          <p:nvPr/>
        </p:nvSpPr>
        <p:spPr>
          <a:xfrm>
            <a:off x="8747731" y="3258870"/>
            <a:ext cx="9540269" cy="5597462"/>
          </a:xfrm>
          <a:custGeom>
            <a:avLst/>
            <a:gdLst/>
            <a:ahLst/>
            <a:cxnLst/>
            <a:rect l="l" t="t" r="r" b="b"/>
            <a:pathLst>
              <a:path w="9540269" h="5597462">
                <a:moveTo>
                  <a:pt x="0" y="0"/>
                </a:moveTo>
                <a:lnTo>
                  <a:pt x="9540269" y="0"/>
                </a:lnTo>
                <a:lnTo>
                  <a:pt x="9540269" y="5597462"/>
                </a:lnTo>
                <a:lnTo>
                  <a:pt x="0" y="5597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24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785881" y="2055619"/>
            <a:ext cx="3773081" cy="122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Usecase hỗ trợ khách hàng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400" b="1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53475" y="1535873"/>
            <a:ext cx="10181050" cy="8751127"/>
          </a:xfrm>
          <a:custGeom>
            <a:avLst/>
            <a:gdLst/>
            <a:ahLst/>
            <a:cxnLst/>
            <a:rect l="l" t="t" r="r" b="b"/>
            <a:pathLst>
              <a:path w="10181050" h="8751127">
                <a:moveTo>
                  <a:pt x="0" y="0"/>
                </a:moveTo>
                <a:lnTo>
                  <a:pt x="10181050" y="0"/>
                </a:lnTo>
                <a:lnTo>
                  <a:pt x="10181050" y="8751127"/>
                </a:lnTo>
                <a:lnTo>
                  <a:pt x="0" y="8751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6172" y="1466340"/>
            <a:ext cx="4315778" cy="82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Usecase chức năng nhân viên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7585" y="2817275"/>
            <a:ext cx="9331585" cy="5728804"/>
          </a:xfrm>
          <a:custGeom>
            <a:avLst/>
            <a:gdLst/>
            <a:ahLst/>
            <a:cxnLst/>
            <a:rect l="l" t="t" r="r" b="b"/>
            <a:pathLst>
              <a:path w="9331585" h="5728804">
                <a:moveTo>
                  <a:pt x="0" y="0"/>
                </a:moveTo>
                <a:lnTo>
                  <a:pt x="9331585" y="0"/>
                </a:lnTo>
                <a:lnTo>
                  <a:pt x="9331585" y="5728804"/>
                </a:lnTo>
                <a:lnTo>
                  <a:pt x="0" y="572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1049" y="1488248"/>
            <a:ext cx="3773081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Usecase quản lý nhân viên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endParaRPr lang="en-US" sz="2100" b="1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798781" y="2600718"/>
            <a:ext cx="8489219" cy="6161919"/>
          </a:xfrm>
          <a:custGeom>
            <a:avLst/>
            <a:gdLst/>
            <a:ahLst/>
            <a:cxnLst/>
            <a:rect l="l" t="t" r="r" b="b"/>
            <a:pathLst>
              <a:path w="8489219" h="6161919">
                <a:moveTo>
                  <a:pt x="0" y="0"/>
                </a:moveTo>
                <a:lnTo>
                  <a:pt x="8489219" y="0"/>
                </a:lnTo>
                <a:lnTo>
                  <a:pt x="8489219" y="6161919"/>
                </a:lnTo>
                <a:lnTo>
                  <a:pt x="0" y="616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728711" y="1488248"/>
            <a:ext cx="4136677" cy="791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04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Usecase quản lý doanh thu</a:t>
            </a:r>
          </a:p>
          <a:p>
            <a:pPr algn="ctr">
              <a:lnSpc>
                <a:spcPts val="3406"/>
              </a:lnSpc>
              <a:spcBef>
                <a:spcPct val="0"/>
              </a:spcBef>
            </a:pPr>
            <a:endParaRPr lang="en-US" sz="2104" b="1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5948" y="2787774"/>
            <a:ext cx="7411379" cy="5945281"/>
          </a:xfrm>
          <a:custGeom>
            <a:avLst/>
            <a:gdLst/>
            <a:ahLst/>
            <a:cxnLst/>
            <a:rect l="l" t="t" r="r" b="b"/>
            <a:pathLst>
              <a:path w="7411379" h="5945281">
                <a:moveTo>
                  <a:pt x="0" y="0"/>
                </a:moveTo>
                <a:lnTo>
                  <a:pt x="7411379" y="0"/>
                </a:lnTo>
                <a:lnTo>
                  <a:pt x="7411379" y="5945280"/>
                </a:lnTo>
                <a:lnTo>
                  <a:pt x="0" y="5945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32387" y="2966395"/>
            <a:ext cx="8337201" cy="5766659"/>
          </a:xfrm>
          <a:custGeom>
            <a:avLst/>
            <a:gdLst/>
            <a:ahLst/>
            <a:cxnLst/>
            <a:rect l="l" t="t" r="r" b="b"/>
            <a:pathLst>
              <a:path w="8337201" h="5766659">
                <a:moveTo>
                  <a:pt x="0" y="0"/>
                </a:moveTo>
                <a:lnTo>
                  <a:pt x="8337201" y="0"/>
                </a:lnTo>
                <a:lnTo>
                  <a:pt x="8337201" y="5766659"/>
                </a:lnTo>
                <a:lnTo>
                  <a:pt x="0" y="5766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2616" y="1658110"/>
            <a:ext cx="3106579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 Khách hàng đăng ký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32387" y="1282822"/>
            <a:ext cx="3515320" cy="82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 Khách hàng đăng nhập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464559"/>
            <a:ext cx="6791900" cy="6087692"/>
          </a:xfrm>
          <a:custGeom>
            <a:avLst/>
            <a:gdLst/>
            <a:ahLst/>
            <a:cxnLst/>
            <a:rect l="l" t="t" r="r" b="b"/>
            <a:pathLst>
              <a:path w="6791900" h="6087692">
                <a:moveTo>
                  <a:pt x="0" y="0"/>
                </a:moveTo>
                <a:lnTo>
                  <a:pt x="6791900" y="0"/>
                </a:lnTo>
                <a:lnTo>
                  <a:pt x="6791900" y="6087692"/>
                </a:lnTo>
                <a:lnTo>
                  <a:pt x="0" y="6087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09678" y="2464559"/>
            <a:ext cx="6268314" cy="6225556"/>
          </a:xfrm>
          <a:custGeom>
            <a:avLst/>
            <a:gdLst/>
            <a:ahLst/>
            <a:cxnLst/>
            <a:rect l="l" t="t" r="r" b="b"/>
            <a:pathLst>
              <a:path w="6268314" h="6225556">
                <a:moveTo>
                  <a:pt x="0" y="0"/>
                </a:moveTo>
                <a:lnTo>
                  <a:pt x="6268314" y="0"/>
                </a:lnTo>
                <a:lnTo>
                  <a:pt x="6268314" y="6225557"/>
                </a:lnTo>
                <a:lnTo>
                  <a:pt x="0" y="6225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496821"/>
            <a:ext cx="3030736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-Khách hàng đặt tour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9678" y="1658110"/>
            <a:ext cx="1916073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 Quản lý tour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35208" y="77609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6310" y="2693150"/>
            <a:ext cx="6276198" cy="6170270"/>
          </a:xfrm>
          <a:custGeom>
            <a:avLst/>
            <a:gdLst/>
            <a:ahLst/>
            <a:cxnLst/>
            <a:rect l="l" t="t" r="r" b="b"/>
            <a:pathLst>
              <a:path w="6276198" h="6170270">
                <a:moveTo>
                  <a:pt x="0" y="0"/>
                </a:moveTo>
                <a:lnTo>
                  <a:pt x="6276198" y="0"/>
                </a:lnTo>
                <a:lnTo>
                  <a:pt x="6276198" y="6170270"/>
                </a:lnTo>
                <a:lnTo>
                  <a:pt x="0" y="617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2787774"/>
            <a:ext cx="6840935" cy="6075647"/>
          </a:xfrm>
          <a:custGeom>
            <a:avLst/>
            <a:gdLst/>
            <a:ahLst/>
            <a:cxnLst/>
            <a:rect l="l" t="t" r="r" b="b"/>
            <a:pathLst>
              <a:path w="6840935" h="6075647">
                <a:moveTo>
                  <a:pt x="0" y="0"/>
                </a:moveTo>
                <a:lnTo>
                  <a:pt x="6840935" y="0"/>
                </a:lnTo>
                <a:lnTo>
                  <a:pt x="6840935" y="6075646"/>
                </a:lnTo>
                <a:lnTo>
                  <a:pt x="0" y="6075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658110"/>
            <a:ext cx="2678073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-Quản lý nhân viên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1658110"/>
            <a:ext cx="2738676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-Quản lý doanh thu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808" y="2274531"/>
            <a:ext cx="5300114" cy="6356958"/>
          </a:xfrm>
          <a:custGeom>
            <a:avLst/>
            <a:gdLst/>
            <a:ahLst/>
            <a:cxnLst/>
            <a:rect l="l" t="t" r="r" b="b"/>
            <a:pathLst>
              <a:path w="5300114" h="6356958">
                <a:moveTo>
                  <a:pt x="0" y="0"/>
                </a:moveTo>
                <a:lnTo>
                  <a:pt x="5300114" y="0"/>
                </a:lnTo>
                <a:lnTo>
                  <a:pt x="530011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00197" y="2274531"/>
            <a:ext cx="5887606" cy="6337409"/>
          </a:xfrm>
          <a:custGeom>
            <a:avLst/>
            <a:gdLst/>
            <a:ahLst/>
            <a:cxnLst/>
            <a:rect l="l" t="t" r="r" b="b"/>
            <a:pathLst>
              <a:path w="5887606" h="6337409">
                <a:moveTo>
                  <a:pt x="0" y="0"/>
                </a:moveTo>
                <a:lnTo>
                  <a:pt x="5887606" y="0"/>
                </a:lnTo>
                <a:lnTo>
                  <a:pt x="5887606" y="6337409"/>
                </a:lnTo>
                <a:lnTo>
                  <a:pt x="0" y="6337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45411" y="2344004"/>
            <a:ext cx="5642589" cy="6218013"/>
          </a:xfrm>
          <a:custGeom>
            <a:avLst/>
            <a:gdLst/>
            <a:ahLst/>
            <a:cxnLst/>
            <a:rect l="l" t="t" r="r" b="b"/>
            <a:pathLst>
              <a:path w="5642589" h="6218013">
                <a:moveTo>
                  <a:pt x="0" y="0"/>
                </a:moveTo>
                <a:lnTo>
                  <a:pt x="5642589" y="0"/>
                </a:lnTo>
                <a:lnTo>
                  <a:pt x="5642589" y="6218013"/>
                </a:lnTo>
                <a:lnTo>
                  <a:pt x="0" y="6218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15906" y="330835"/>
            <a:ext cx="12056189" cy="65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II. PHÂN TÍCH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40255" y="1483013"/>
            <a:ext cx="413667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 Khách hàng thanh toán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2727" y="1479041"/>
            <a:ext cx="3131582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-Khách hàng tìm kiếm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20098" y="1496821"/>
            <a:ext cx="3139202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-Khách hàng đánh giá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22735" y="-1820550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98997" y="1698391"/>
            <a:ext cx="647477" cy="647477"/>
          </a:xfrm>
          <a:custGeom>
            <a:avLst/>
            <a:gdLst/>
            <a:ahLst/>
            <a:cxnLst/>
            <a:rect l="l" t="t" r="r" b="b"/>
            <a:pathLst>
              <a:path w="647477" h="647477">
                <a:moveTo>
                  <a:pt x="0" y="0"/>
                </a:moveTo>
                <a:lnTo>
                  <a:pt x="647477" y="0"/>
                </a:lnTo>
                <a:lnTo>
                  <a:pt x="647477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4989" y="2803180"/>
            <a:ext cx="7841134" cy="2888276"/>
          </a:xfrm>
          <a:custGeom>
            <a:avLst/>
            <a:gdLst/>
            <a:ahLst/>
            <a:cxnLst/>
            <a:rect l="l" t="t" r="r" b="b"/>
            <a:pathLst>
              <a:path w="7841134" h="2888276">
                <a:moveTo>
                  <a:pt x="0" y="0"/>
                </a:moveTo>
                <a:lnTo>
                  <a:pt x="7841133" y="0"/>
                </a:lnTo>
                <a:lnTo>
                  <a:pt x="7841133" y="2888275"/>
                </a:lnTo>
                <a:lnTo>
                  <a:pt x="0" y="2888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4989" y="6469900"/>
            <a:ext cx="7841134" cy="3046941"/>
          </a:xfrm>
          <a:custGeom>
            <a:avLst/>
            <a:gdLst/>
            <a:ahLst/>
            <a:cxnLst/>
            <a:rect l="l" t="t" r="r" b="b"/>
            <a:pathLst>
              <a:path w="7841134" h="3046941">
                <a:moveTo>
                  <a:pt x="0" y="0"/>
                </a:moveTo>
                <a:lnTo>
                  <a:pt x="7841133" y="0"/>
                </a:lnTo>
                <a:lnTo>
                  <a:pt x="7841133" y="3046941"/>
                </a:lnTo>
                <a:lnTo>
                  <a:pt x="0" y="30469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6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59739" y="2833985"/>
            <a:ext cx="7799561" cy="2857470"/>
          </a:xfrm>
          <a:custGeom>
            <a:avLst/>
            <a:gdLst/>
            <a:ahLst/>
            <a:cxnLst/>
            <a:rect l="l" t="t" r="r" b="b"/>
            <a:pathLst>
              <a:path w="7799561" h="2857470">
                <a:moveTo>
                  <a:pt x="0" y="0"/>
                </a:moveTo>
                <a:lnTo>
                  <a:pt x="7799561" y="0"/>
                </a:lnTo>
                <a:lnTo>
                  <a:pt x="7799561" y="2857470"/>
                </a:lnTo>
                <a:lnTo>
                  <a:pt x="0" y="28574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33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59739" y="6469900"/>
            <a:ext cx="8146698" cy="2533813"/>
          </a:xfrm>
          <a:custGeom>
            <a:avLst/>
            <a:gdLst/>
            <a:ahLst/>
            <a:cxnLst/>
            <a:rect l="l" t="t" r="r" b="b"/>
            <a:pathLst>
              <a:path w="8146698" h="2533813">
                <a:moveTo>
                  <a:pt x="0" y="0"/>
                </a:moveTo>
                <a:lnTo>
                  <a:pt x="8146698" y="0"/>
                </a:lnTo>
                <a:lnTo>
                  <a:pt x="8146698" y="2533814"/>
                </a:lnTo>
                <a:lnTo>
                  <a:pt x="0" y="25338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688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45946" y="418370"/>
            <a:ext cx="12380353" cy="126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2"/>
              </a:lnSpc>
              <a:spcBef>
                <a:spcPct val="0"/>
              </a:spcBef>
            </a:pPr>
            <a:r>
              <a:rPr lang="en-US" sz="3742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CHƯƠNG </a:t>
            </a:r>
            <a:r>
              <a:rPr lang="en-US" sz="3742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III. THIẾT KẾ HỆ THỐNG</a:t>
            </a:r>
          </a:p>
          <a:p>
            <a:pPr marL="0" lvl="0" indent="0" algn="r">
              <a:lnSpc>
                <a:spcPts val="4752"/>
              </a:lnSpc>
              <a:spcBef>
                <a:spcPct val="0"/>
              </a:spcBef>
            </a:pPr>
            <a:endParaRPr lang="en-US" sz="3742" b="1" u="none" strike="noStrike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94989" y="1632876"/>
            <a:ext cx="2970729" cy="38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Thiết kế cơ sở dữ liệu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259" y="2298243"/>
            <a:ext cx="2169795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KhachHang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3259" y="6120652"/>
            <a:ext cx="1889165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NhanVien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2606" y="2449054"/>
            <a:ext cx="1834515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TaiKhoan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02567" y="6120652"/>
            <a:ext cx="1759863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LoaiTour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22735" y="-1820550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170608"/>
            <a:ext cx="6791900" cy="6087692"/>
          </a:xfrm>
          <a:custGeom>
            <a:avLst/>
            <a:gdLst/>
            <a:ahLst/>
            <a:cxnLst/>
            <a:rect l="l" t="t" r="r" b="b"/>
            <a:pathLst>
              <a:path w="6791900" h="6087692">
                <a:moveTo>
                  <a:pt x="0" y="0"/>
                </a:moveTo>
                <a:lnTo>
                  <a:pt x="6791900" y="0"/>
                </a:lnTo>
                <a:lnTo>
                  <a:pt x="6791900" y="6087692"/>
                </a:lnTo>
                <a:lnTo>
                  <a:pt x="0" y="6087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05891" y="3170608"/>
            <a:ext cx="8176627" cy="4986292"/>
          </a:xfrm>
          <a:custGeom>
            <a:avLst/>
            <a:gdLst/>
            <a:ahLst/>
            <a:cxnLst/>
            <a:rect l="l" t="t" r="r" b="b"/>
            <a:pathLst>
              <a:path w="8176627" h="4986292">
                <a:moveTo>
                  <a:pt x="0" y="0"/>
                </a:moveTo>
                <a:lnTo>
                  <a:pt x="8176626" y="0"/>
                </a:lnTo>
                <a:lnTo>
                  <a:pt x="8176626" y="4986292"/>
                </a:lnTo>
                <a:lnTo>
                  <a:pt x="0" y="4986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77186" y="589185"/>
            <a:ext cx="12380353" cy="126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2"/>
              </a:lnSpc>
              <a:spcBef>
                <a:spcPct val="0"/>
              </a:spcBef>
            </a:pPr>
            <a:r>
              <a:rPr lang="en-US" sz="3742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CHƯƠNG </a:t>
            </a:r>
            <a:r>
              <a:rPr lang="en-US" sz="3742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III. THIẾT KẾ HỆ THỐNG</a:t>
            </a:r>
          </a:p>
          <a:p>
            <a:pPr marL="0" lvl="0" indent="0" algn="r">
              <a:lnSpc>
                <a:spcPts val="4752"/>
              </a:lnSpc>
              <a:spcBef>
                <a:spcPct val="0"/>
              </a:spcBef>
            </a:pPr>
            <a:endParaRPr lang="en-US" sz="3742" b="1" u="none" strike="noStrike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59204" y="2604019"/>
            <a:ext cx="1242298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Tour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88001" y="2604019"/>
            <a:ext cx="2159556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DonDatTour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22735" y="-1820550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34772" y="3718034"/>
            <a:ext cx="8749011" cy="3579537"/>
          </a:xfrm>
          <a:custGeom>
            <a:avLst/>
            <a:gdLst/>
            <a:ahLst/>
            <a:cxnLst/>
            <a:rect l="l" t="t" r="r" b="b"/>
            <a:pathLst>
              <a:path w="8749011" h="3579537">
                <a:moveTo>
                  <a:pt x="0" y="0"/>
                </a:moveTo>
                <a:lnTo>
                  <a:pt x="8749011" y="0"/>
                </a:lnTo>
                <a:lnTo>
                  <a:pt x="8749011" y="3579537"/>
                </a:lnTo>
                <a:lnTo>
                  <a:pt x="0" y="3579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68" b="-891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29571" y="1970862"/>
            <a:ext cx="7205031" cy="3172638"/>
          </a:xfrm>
          <a:custGeom>
            <a:avLst/>
            <a:gdLst/>
            <a:ahLst/>
            <a:cxnLst/>
            <a:rect l="l" t="t" r="r" b="b"/>
            <a:pathLst>
              <a:path w="7205031" h="3172638">
                <a:moveTo>
                  <a:pt x="0" y="0"/>
                </a:moveTo>
                <a:lnTo>
                  <a:pt x="7205031" y="0"/>
                </a:lnTo>
                <a:lnTo>
                  <a:pt x="7205031" y="3172638"/>
                </a:lnTo>
                <a:lnTo>
                  <a:pt x="0" y="317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82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81529" y="6281072"/>
            <a:ext cx="7153073" cy="3377509"/>
          </a:xfrm>
          <a:custGeom>
            <a:avLst/>
            <a:gdLst/>
            <a:ahLst/>
            <a:cxnLst/>
            <a:rect l="l" t="t" r="r" b="b"/>
            <a:pathLst>
              <a:path w="7153073" h="3377509">
                <a:moveTo>
                  <a:pt x="0" y="0"/>
                </a:moveTo>
                <a:lnTo>
                  <a:pt x="7153073" y="0"/>
                </a:lnTo>
                <a:lnTo>
                  <a:pt x="7153073" y="3377509"/>
                </a:lnTo>
                <a:lnTo>
                  <a:pt x="0" y="33775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944" b="-1199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42382" y="447262"/>
            <a:ext cx="12380353" cy="126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2"/>
              </a:lnSpc>
              <a:spcBef>
                <a:spcPct val="0"/>
              </a:spcBef>
            </a:pPr>
            <a:r>
              <a:rPr lang="en-US" sz="3742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CHƯƠNG </a:t>
            </a:r>
            <a:r>
              <a:rPr lang="en-US" sz="3742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III. THIẾT KẾ HỆ THỐNG</a:t>
            </a:r>
          </a:p>
          <a:p>
            <a:pPr marL="0" lvl="0" indent="0" algn="r">
              <a:lnSpc>
                <a:spcPts val="4752"/>
              </a:lnSpc>
              <a:spcBef>
                <a:spcPct val="0"/>
              </a:spcBef>
            </a:pPr>
            <a:endParaRPr lang="en-US" sz="3742" b="1" u="none" strike="noStrike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32559" y="3207933"/>
            <a:ext cx="1732478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DanhGia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1529" y="1522070"/>
            <a:ext cx="2060853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ThanhToan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769899"/>
            <a:ext cx="2267069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Bảng Yeucautuvan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22735" y="-1820550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51270" y="2050387"/>
            <a:ext cx="9267733" cy="7055109"/>
          </a:xfrm>
          <a:custGeom>
            <a:avLst/>
            <a:gdLst/>
            <a:ahLst/>
            <a:cxnLst/>
            <a:rect l="l" t="t" r="r" b="b"/>
            <a:pathLst>
              <a:path w="9267733" h="7055109">
                <a:moveTo>
                  <a:pt x="0" y="0"/>
                </a:moveTo>
                <a:lnTo>
                  <a:pt x="9267733" y="0"/>
                </a:lnTo>
                <a:lnTo>
                  <a:pt x="9267733" y="7055109"/>
                </a:lnTo>
                <a:lnTo>
                  <a:pt x="0" y="7055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874621" y="436260"/>
            <a:ext cx="12380353" cy="126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2"/>
              </a:lnSpc>
              <a:spcBef>
                <a:spcPct val="0"/>
              </a:spcBef>
            </a:pPr>
            <a:r>
              <a:rPr lang="en-US" sz="3742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CHƯƠNG </a:t>
            </a:r>
            <a:r>
              <a:rPr lang="en-US" sz="3742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III. THIẾT KẾ HỆ THỐNG</a:t>
            </a:r>
          </a:p>
          <a:p>
            <a:pPr marL="0" lvl="0" indent="0" algn="r">
              <a:lnSpc>
                <a:spcPts val="4752"/>
              </a:lnSpc>
              <a:spcBef>
                <a:spcPct val="0"/>
              </a:spcBef>
            </a:pPr>
            <a:endParaRPr lang="en-US" sz="3742" b="1" u="none" strike="noStrike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682" y="1823693"/>
            <a:ext cx="3254693" cy="40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Sơ đồ thực thể liên kết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76388" y="-1115149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80939" y="1240816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45921" y="635535"/>
            <a:ext cx="8095688" cy="124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</a:t>
            </a: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G IV. CÀI ĐẶT VÀ KIỂM THỬ PHẦN MỀM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CBC91AA-9E96-0DA9-F1EF-FE0972711AC6}"/>
              </a:ext>
            </a:extLst>
          </p:cNvPr>
          <p:cNvSpPr txBox="1"/>
          <p:nvPr/>
        </p:nvSpPr>
        <p:spPr>
          <a:xfrm>
            <a:off x="1028700" y="2149187"/>
            <a:ext cx="16230600" cy="6999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endParaRPr lang="en-US" sz="2300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l">
              <a:lnSpc>
                <a:spcPts val="4623"/>
              </a:lnSpc>
            </a:pP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Môi trường phát triển</a:t>
            </a:r>
            <a:endParaRPr lang="en-US" sz="2300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l">
              <a:lnSpc>
                <a:spcPts val="4623"/>
              </a:lnSpc>
            </a:pP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 thống được phát triển với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backend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sử dụng C# và .NET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Core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dùng HTML, CSS,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JavaScript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và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Bootstrap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 Cơ sở dữ liệu lưu trữ bằng SQL Server, quản lý qua SSMS.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Visual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Studio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và VS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Code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được dùng làm môi trường lập trình;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GitHub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hỗ trợ quản lý mã nguồn.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và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backend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giao tiếp bằng API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RESTful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hệ thống được kiểm thử trên các trình duyệt phổ biến và chạy thử trên môi trường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localhost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trước khi triển khai.</a:t>
            </a:r>
            <a:endParaRPr lang="en-US" sz="2300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l">
              <a:lnSpc>
                <a:spcPts val="4623"/>
              </a:lnSpc>
            </a:pPr>
            <a:endParaRPr lang="en-US" sz="2300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l">
              <a:lnSpc>
                <a:spcPts val="4623"/>
              </a:lnSpc>
            </a:pP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Cấu trúc chương trình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:</a:t>
            </a:r>
          </a:p>
          <a:p>
            <a:pPr algn="l">
              <a:lnSpc>
                <a:spcPts val="4623"/>
              </a:lnSpc>
            </a:pP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Chương trình được xây dựng theo mô hình nhiều tầng gồm: tầng giao diện, tầng nghiệp vụ và tầng truy cập dữ liệu. Tầng giao diện xử lý hiển thị và tương tác với người dùng; tầng nghiệp vụ quản lý toàn bộ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logic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như đặt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tour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thanh toán, hủy/đổi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tour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thông báo và thống kê; tầng dữ liệu kết nối SQL Server để truy vấn và lưu trữ thông tin. Các thành phần giao tiếp với nhau qua API </a:t>
            </a:r>
            <a:r>
              <a:rPr lang="vi-VN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RESTful</a:t>
            </a:r>
            <a:r>
              <a:rPr lang="vi-VN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giúp hệ thống dễ mở rộng, dễ bảo trì và vận hành ổn định.</a:t>
            </a:r>
            <a:endParaRPr lang="en-US" sz="2300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41357" y="64072"/>
            <a:ext cx="12407582" cy="183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endParaRPr/>
          </a:p>
          <a:p>
            <a:pPr marL="0" lvl="0" indent="0" algn="ctr">
              <a:lnSpc>
                <a:spcPts val="4699"/>
              </a:lnSpc>
              <a:spcBef>
                <a:spcPct val="0"/>
              </a:spcBef>
            </a:pPr>
            <a:r>
              <a:rPr lang="en-US" sz="3700" b="1" u="none" strike="noStrik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CHƯƠNG VI. KẾT LUẬN VÀ HƯỚNG PHÁT TRIỂN HỆ THỐNG</a:t>
            </a:r>
          </a:p>
        </p:txBody>
      </p:sp>
      <p:sp>
        <p:nvSpPr>
          <p:cNvPr id="3" name="Freeform 3"/>
          <p:cNvSpPr/>
          <p:nvPr/>
        </p:nvSpPr>
        <p:spPr>
          <a:xfrm>
            <a:off x="-371317" y="-1848214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149187"/>
            <a:ext cx="16230600" cy="633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•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Kết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luận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:</a:t>
            </a:r>
          </a:p>
          <a:p>
            <a:pPr algn="l">
              <a:lnSpc>
                <a:spcPts val="4623"/>
              </a:lnSpc>
            </a:pP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thống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TourVietPlus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đã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hoàn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thiện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các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chức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năng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cốt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lõi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như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tìm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kiếm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xem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chi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tiết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đặt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tour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thanh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toán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Phần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quản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trị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hỗ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trợ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quản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lý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tour,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khách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hàng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doanh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thu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thống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kê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hiệu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quả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Kiến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trúc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thống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rõ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ràng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dễ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mở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rộng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;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giao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diện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thân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thiện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hiện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đại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phù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hợp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cho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cả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người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dùng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lẫn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quản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trị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viên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>
              <a:lnSpc>
                <a:spcPts val="4623"/>
              </a:lnSpc>
            </a:pP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•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Hạn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chế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&amp;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Hướng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phát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triển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:</a:t>
            </a:r>
          </a:p>
          <a:p>
            <a:pPr algn="l">
              <a:lnSpc>
                <a:spcPts val="4623"/>
              </a:lnSpc>
            </a:pP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Tích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hợp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tính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năng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tìm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tour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theo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xu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hướng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(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dựa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trên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lượt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xem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lượt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đặt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).</a:t>
            </a:r>
          </a:p>
          <a:p>
            <a:pPr algn="l">
              <a:lnSpc>
                <a:spcPts val="4623"/>
              </a:lnSpc>
            </a:pP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Phát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triển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gợi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ý tour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liên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quan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bằng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thuật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toán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recommendation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để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cá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nhân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hóa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trải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nghiệm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>
              <a:lnSpc>
                <a:spcPts val="4623"/>
              </a:lnSpc>
            </a:pP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Xây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dựng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module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khảo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sát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&amp;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phân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tích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dữ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liệu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khách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hàng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để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phục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vụ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marketing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thiết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kế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tour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tối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ưu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>
              <a:lnSpc>
                <a:spcPts val="4623"/>
              </a:lnSpc>
            </a:pP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Bổ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sung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thông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báo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thông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minh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chatbot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hỗ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trợ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thêm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nhiều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cổng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thanh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toán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>
              <a:lnSpc>
                <a:spcPts val="4623"/>
              </a:lnSpc>
            </a:pP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Phát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triển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ứng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dụng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di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động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thống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đánh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giá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–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phản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hồi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tour.</a:t>
            </a:r>
          </a:p>
          <a:p>
            <a:pPr algn="l">
              <a:lnSpc>
                <a:spcPts val="4623"/>
              </a:lnSpc>
            </a:pP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Tăng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cường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bảo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mật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hiệu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năng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khả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năng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chịu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tải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khi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hệ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thống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mở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rộng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quy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300" b="1" dirty="0" err="1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mô</a:t>
            </a:r>
            <a:r>
              <a:rPr lang="en-US" sz="2300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4766" y="4408800"/>
            <a:ext cx="15358467" cy="73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0"/>
              </a:lnSpc>
              <a:spcBef>
                <a:spcPct val="0"/>
              </a:spcBef>
            </a:pPr>
            <a:r>
              <a:rPr lang="en-US" sz="4142" b="1">
                <a:solidFill>
                  <a:srgbClr val="000000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CẢM ƠN CÔ ĐÃ LẮNG NGHE BÀI THUYẾT TRÌNH CỦA 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1286</Words>
  <Application>Microsoft Office PowerPoint</Application>
  <PresentationFormat>Custom</PresentationFormat>
  <Paragraphs>115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Barlow Condensed Heavy</vt:lpstr>
      <vt:lpstr>Aileron Bold</vt:lpstr>
      <vt:lpstr>Akzidenz-Grotesk Heavy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The Future Of The Arctic Presentation</dc:title>
  <cp:lastModifiedBy>Administrator</cp:lastModifiedBy>
  <cp:revision>2</cp:revision>
  <dcterms:created xsi:type="dcterms:W3CDTF">2006-08-16T00:00:00Z</dcterms:created>
  <dcterms:modified xsi:type="dcterms:W3CDTF">2025-11-28T15:37:25Z</dcterms:modified>
  <dc:identifier>DAG53pFaM3I</dc:identifier>
</cp:coreProperties>
</file>